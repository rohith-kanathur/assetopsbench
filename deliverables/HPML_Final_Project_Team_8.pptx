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12192000"/>
  <p:embeddedFontLst>
    <p:embeddedFont>
      <p:font typeface="Geist"/>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ilLxKoegA8urwQf/GpRa43f/tM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E636AC-44C4-4649-99DD-828383678349}">
  <a:tblStyle styleId="{E6E636AC-44C4-4649-99DD-82838367834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7ED6B9E-C80C-4C89-9DE3-558ACC725F6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Geist-bold.fntdata"/><Relationship Id="rId14" Type="http://schemas.openxmlformats.org/officeDocument/2006/relationships/slide" Target="slides/slide9.xml"/><Relationship Id="rId36" Type="http://schemas.openxmlformats.org/officeDocument/2006/relationships/font" Target="fonts/Geist-regular.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Ananya</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Ananya</a:t>
            </a:r>
            <a:endParaRPr/>
          </a:p>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9a876354f6_6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 name="Google Shape;37;g39a876354f6_6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Ananya</a:t>
            </a:r>
            <a:endParaRPr/>
          </a:p>
          <a:p>
            <a:pPr indent="0" lvl="0" marL="0" rtl="0" algn="l">
              <a:spcBef>
                <a:spcPts val="0"/>
              </a:spcBef>
              <a:spcAft>
                <a:spcPts val="0"/>
              </a:spcAft>
              <a:buNone/>
            </a:pPr>
            <a:r>
              <a:t/>
            </a:r>
            <a:endParaRPr/>
          </a:p>
        </p:txBody>
      </p:sp>
      <p:sp>
        <p:nvSpPr>
          <p:cNvPr id="38" name="Google Shape;38;g39a876354f6_6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Ananya</a:t>
            </a:r>
            <a:endParaRPr/>
          </a:p>
          <a:p>
            <a:pPr indent="0" lvl="0" marL="0" rtl="0" algn="l">
              <a:spcBef>
                <a:spcPts val="0"/>
              </a:spcBef>
              <a:spcAft>
                <a:spcPts val="0"/>
              </a:spcAft>
              <a:buNone/>
            </a:pPr>
            <a:r>
              <a:t/>
            </a:r>
            <a:endParaRPr/>
          </a:p>
        </p:txBody>
      </p:sp>
      <p:sp>
        <p:nvSpPr>
          <p:cNvPr id="109" name="Google Shape;10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Ananya</a:t>
            </a:r>
            <a:endParaRPr/>
          </a:p>
          <a:p>
            <a:pPr indent="0" lvl="0" marL="0" rtl="0" algn="l">
              <a:spcBef>
                <a:spcPts val="0"/>
              </a:spcBef>
              <a:spcAft>
                <a:spcPts val="0"/>
              </a:spcAft>
              <a:buNone/>
            </a:pPr>
            <a:r>
              <a:t/>
            </a:r>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a876354f6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9a876354f6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Ananya</a:t>
            </a:r>
            <a:endParaRPr/>
          </a:p>
          <a:p>
            <a:pPr indent="0" lvl="0" marL="0" rtl="0" algn="l">
              <a:spcBef>
                <a:spcPts val="0"/>
              </a:spcBef>
              <a:spcAft>
                <a:spcPts val="0"/>
              </a:spcAft>
              <a:buNone/>
            </a:pPr>
            <a:r>
              <a:t/>
            </a:r>
            <a:endParaRPr/>
          </a:p>
        </p:txBody>
      </p:sp>
      <p:sp>
        <p:nvSpPr>
          <p:cNvPr id="145" name="Google Shape;145;g39a876354f6_1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Sagar</a:t>
            </a:r>
            <a:endParaRPr/>
          </a:p>
        </p:txBody>
      </p:sp>
      <p:sp>
        <p:nvSpPr>
          <p:cNvPr id="161" name="Google Shape;16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a876354f6_1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9a876354f6_1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Sagar</a:t>
            </a:r>
            <a:endParaRPr/>
          </a:p>
          <a:p>
            <a:pPr indent="0" lvl="0" marL="0" rtl="0" algn="l">
              <a:spcBef>
                <a:spcPts val="0"/>
              </a:spcBef>
              <a:spcAft>
                <a:spcPts val="0"/>
              </a:spcAft>
              <a:buNone/>
            </a:pPr>
            <a:r>
              <a:t/>
            </a:r>
            <a:endParaRPr/>
          </a:p>
        </p:txBody>
      </p:sp>
      <p:sp>
        <p:nvSpPr>
          <p:cNvPr id="174" name="Google Shape;174;g39a876354f6_1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Sagar</a:t>
            </a:r>
            <a:endParaRPr/>
          </a:p>
          <a:p>
            <a:pPr indent="0" lvl="0" marL="0" rtl="0" algn="l">
              <a:spcBef>
                <a:spcPts val="0"/>
              </a:spcBef>
              <a:spcAft>
                <a:spcPts val="0"/>
              </a:spcAft>
              <a:buNone/>
            </a:pPr>
            <a:r>
              <a:t/>
            </a:r>
            <a:endParaRPr/>
          </a:p>
        </p:txBody>
      </p:sp>
      <p:sp>
        <p:nvSpPr>
          <p:cNvPr id="187" name="Google Shape;18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Sagar</a:t>
            </a:r>
            <a:endParaRPr/>
          </a:p>
          <a:p>
            <a:pPr indent="0" lvl="0" marL="0" rtl="0" algn="l">
              <a:spcBef>
                <a:spcPts val="0"/>
              </a:spcBef>
              <a:spcAft>
                <a:spcPts val="0"/>
              </a:spcAft>
              <a:buNone/>
            </a:pPr>
            <a:r>
              <a:t/>
            </a:r>
            <a:endParaRPr/>
          </a:p>
        </p:txBody>
      </p:sp>
      <p:sp>
        <p:nvSpPr>
          <p:cNvPr id="206" name="Google Shape;2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a876354f6_7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39a876354f6_7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Sagar</a:t>
            </a:r>
            <a:endParaRPr/>
          </a:p>
        </p:txBody>
      </p:sp>
      <p:sp>
        <p:nvSpPr>
          <p:cNvPr id="220" name="Google Shape;220;g39a876354f6_7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9a876354f6_7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9a876354f6_7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Rohith</a:t>
            </a:r>
            <a:endParaRPr/>
          </a:p>
        </p:txBody>
      </p:sp>
      <p:sp>
        <p:nvSpPr>
          <p:cNvPr id="235" name="Google Shape;235;g39a876354f6_7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Rohith</a:t>
            </a:r>
            <a:endParaRPr/>
          </a:p>
        </p:txBody>
      </p:sp>
      <p:sp>
        <p:nvSpPr>
          <p:cNvPr id="251" name="Google Shape;25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9a876354f6_7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9a876354f6_7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Rohith</a:t>
            </a:r>
            <a:endParaRPr/>
          </a:p>
          <a:p>
            <a:pPr indent="0" lvl="0" marL="0" rtl="0" algn="l">
              <a:spcBef>
                <a:spcPts val="0"/>
              </a:spcBef>
              <a:spcAft>
                <a:spcPts val="0"/>
              </a:spcAft>
              <a:buNone/>
            </a:pPr>
            <a:r>
              <a:t/>
            </a:r>
            <a:endParaRPr/>
          </a:p>
        </p:txBody>
      </p:sp>
      <p:sp>
        <p:nvSpPr>
          <p:cNvPr id="262" name="Google Shape;262;g39a876354f6_7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Rohith</a:t>
            </a:r>
            <a:endParaRPr/>
          </a:p>
          <a:p>
            <a:pPr indent="0" lvl="0" marL="0" rtl="0" algn="l">
              <a:spcBef>
                <a:spcPts val="0"/>
              </a:spcBef>
              <a:spcAft>
                <a:spcPts val="0"/>
              </a:spcAft>
              <a:buNone/>
            </a:pPr>
            <a:r>
              <a:t/>
            </a:r>
            <a:endParaRPr/>
          </a:p>
        </p:txBody>
      </p:sp>
      <p:sp>
        <p:nvSpPr>
          <p:cNvPr id="273" name="Google Shape;27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a:t>
            </a:r>
            <a:endParaRPr/>
          </a:p>
        </p:txBody>
      </p:sp>
      <p:sp>
        <p:nvSpPr>
          <p:cNvPr id="284" name="Google Shape;28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Dev</a:t>
            </a:r>
            <a:endParaRPr/>
          </a:p>
          <a:p>
            <a:pPr indent="0" lvl="0" marL="0" rtl="0" algn="l">
              <a:spcBef>
                <a:spcPts val="0"/>
              </a:spcBef>
              <a:spcAft>
                <a:spcPts val="0"/>
              </a:spcAft>
              <a:buNone/>
            </a:pPr>
            <a:r>
              <a:t/>
            </a:r>
            <a:endParaRPr/>
          </a:p>
        </p:txBody>
      </p:sp>
      <p:sp>
        <p:nvSpPr>
          <p:cNvPr id="297" name="Google Shape;29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Dev</a:t>
            </a:r>
            <a:endParaRPr/>
          </a:p>
          <a:p>
            <a:pPr indent="0" lvl="0" marL="0" rtl="0" algn="l">
              <a:spcBef>
                <a:spcPts val="0"/>
              </a:spcBef>
              <a:spcAft>
                <a:spcPts val="0"/>
              </a:spcAft>
              <a:buNone/>
            </a:pPr>
            <a:r>
              <a:t/>
            </a:r>
            <a:endParaRPr/>
          </a:p>
        </p:txBody>
      </p:sp>
      <p:sp>
        <p:nvSpPr>
          <p:cNvPr id="314" name="Google Shape;31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Dev</a:t>
            </a:r>
            <a:endParaRPr/>
          </a:p>
          <a:p>
            <a:pPr indent="0" lvl="0" marL="0" rtl="0" algn="l">
              <a:spcBef>
                <a:spcPts val="0"/>
              </a:spcBef>
              <a:spcAft>
                <a:spcPts val="0"/>
              </a:spcAft>
              <a:buNone/>
            </a:pPr>
            <a:r>
              <a:t/>
            </a:r>
            <a:endParaRPr/>
          </a:p>
        </p:txBody>
      </p:sp>
      <p:sp>
        <p:nvSpPr>
          <p:cNvPr id="325" name="Google Shape;32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bcac02c12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dbcac02c12_1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3dbcac02c12_1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dbcac02c12_1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3dbcac02c12_1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g3dbcac02c12_1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bcac02c12_1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3dbcac02c12_1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3dbcac02c12_1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dbcac02c12_1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dbcac02c12_1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g3dbcac02c12_1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dbcac02c12_1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3dbcac02c12_1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g3dbcac02c12_1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dbcac02c12_1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dbcac02c12_1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3dbcac02c12_1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dbcac02c12_1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dbcac02c12_1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g3dbcac02c12_1_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dbcac02c12_1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3dbcac02c12_1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g3dbcac02c12_1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dbcac02c12_1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g3dbcac02c12_1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g3dbcac02c12_1_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dbcac02c12_1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g3dbcac02c12_1_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g3dbcac02c12_1_1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7.png"/><Relationship Id="rId11" Type="http://schemas.openxmlformats.org/officeDocument/2006/relationships/image" Target="../media/image3.png"/><Relationship Id="rId10" Type="http://schemas.openxmlformats.org/officeDocument/2006/relationships/image" Target="../media/image5.png"/><Relationship Id="rId9" Type="http://schemas.openxmlformats.org/officeDocument/2006/relationships/image" Target="../media/image14.png"/><Relationship Id="rId5" Type="http://schemas.openxmlformats.org/officeDocument/2006/relationships/image" Target="../media/image23.png"/><Relationship Id="rId6" Type="http://schemas.openxmlformats.org/officeDocument/2006/relationships/image" Target="../media/image1.png"/><Relationship Id="rId7" Type="http://schemas.openxmlformats.org/officeDocument/2006/relationships/image" Target="../media/image18.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drive.google.com/file/d/1npx6HgFvAjpUa0N6_wu0WLINfKGvkX5D/view" TargetMode="Externa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15" name="Shape 15"/>
        <p:cNvGrpSpPr/>
        <p:nvPr/>
      </p:nvGrpSpPr>
      <p:grpSpPr>
        <a:xfrm>
          <a:off x="0" y="0"/>
          <a:ext cx="0" cy="0"/>
          <a:chOff x="0" y="0"/>
          <a:chExt cx="0" cy="0"/>
        </a:xfrm>
      </p:grpSpPr>
      <p:sp>
        <p:nvSpPr>
          <p:cNvPr id="16" name="Google Shape;16;p1"/>
          <p:cNvSpPr/>
          <p:nvPr/>
        </p:nvSpPr>
        <p:spPr>
          <a:xfrm>
            <a:off x="548640" y="54864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1200"/>
              <a:buFont typeface="Calibri"/>
              <a:buNone/>
            </a:pPr>
            <a:r>
              <a:rPr b="0" i="0" lang="en-US" sz="1200" u="none" cap="none" strike="noStrike">
                <a:solidFill>
                  <a:srgbClr val="B8BCC4"/>
                </a:solidFill>
                <a:latin typeface="Calibri"/>
                <a:ea typeface="Calibri"/>
                <a:cs typeface="Calibri"/>
                <a:sym typeface="Calibri"/>
              </a:rPr>
              <a:t>HPML Final Project  ·  Spring 2026</a:t>
            </a:r>
            <a:endParaRPr b="0" i="0" sz="1200" u="none" cap="none" strike="noStrike">
              <a:solidFill>
                <a:schemeClr val="dk1"/>
              </a:solidFill>
              <a:latin typeface="Calibri"/>
              <a:ea typeface="Calibri"/>
              <a:cs typeface="Calibri"/>
              <a:sym typeface="Calibri"/>
            </a:endParaRPr>
          </a:p>
        </p:txBody>
      </p:sp>
      <p:sp>
        <p:nvSpPr>
          <p:cNvPr id="17" name="Google Shape;17;p1"/>
          <p:cNvSpPr/>
          <p:nvPr/>
        </p:nvSpPr>
        <p:spPr>
          <a:xfrm>
            <a:off x="548650" y="962411"/>
            <a:ext cx="10911900" cy="2329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Extending AssetOpsBench: Smart Grid Transformer Integration and Automated Scenario Generation</a:t>
            </a:r>
            <a:endParaRPr b="0" i="0" sz="5400" u="none" cap="none" strike="noStrike">
              <a:solidFill>
                <a:schemeClr val="dk1"/>
              </a:solidFill>
              <a:latin typeface="Calibri"/>
              <a:ea typeface="Calibri"/>
              <a:cs typeface="Calibri"/>
              <a:sym typeface="Calibri"/>
            </a:endParaRPr>
          </a:p>
        </p:txBody>
      </p:sp>
      <p:sp>
        <p:nvSpPr>
          <p:cNvPr id="18" name="Google Shape;18;p1"/>
          <p:cNvSpPr/>
          <p:nvPr/>
        </p:nvSpPr>
        <p:spPr>
          <a:xfrm>
            <a:off x="548650" y="3385625"/>
            <a:ext cx="10972800" cy="1386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i="1" lang="en-US" sz="2000">
                <a:solidFill>
                  <a:srgbClr val="B8BCC4"/>
                </a:solidFill>
                <a:latin typeface="Calibri"/>
                <a:ea typeface="Calibri"/>
                <a:cs typeface="Calibri"/>
                <a:sym typeface="Calibri"/>
              </a:rPr>
              <a:t>Integrated Smart Grid Transformer into AssetOpsBench with IEC-grounded diagnostic tools and built a </a:t>
            </a:r>
            <a:r>
              <a:rPr i="1" lang="en-US" sz="2000">
                <a:solidFill>
                  <a:srgbClr val="B8BCC4"/>
                </a:solidFill>
                <a:latin typeface="Calibri"/>
                <a:ea typeface="Calibri"/>
                <a:cs typeface="Calibri"/>
                <a:sym typeface="Calibri"/>
              </a:rPr>
              <a:t>Scenario Generator Agent</a:t>
            </a:r>
            <a:r>
              <a:rPr i="1" lang="en-US" sz="2000">
                <a:solidFill>
                  <a:srgbClr val="B8BCC4"/>
                </a:solidFill>
                <a:latin typeface="Calibri"/>
                <a:ea typeface="Calibri"/>
                <a:cs typeface="Calibri"/>
                <a:sym typeface="Calibri"/>
              </a:rPr>
              <a:t> that automates scenario creation for any new asset class, applying optimizations to achieve 8x speedup over baseline with no loss in scenario quality.</a:t>
            </a:r>
            <a:endParaRPr i="1" sz="2000">
              <a:solidFill>
                <a:srgbClr val="B8BCC4"/>
              </a:solidFill>
              <a:latin typeface="Calibri"/>
              <a:ea typeface="Calibri"/>
              <a:cs typeface="Calibri"/>
              <a:sym typeface="Calibri"/>
            </a:endParaRPr>
          </a:p>
        </p:txBody>
      </p:sp>
      <p:sp>
        <p:nvSpPr>
          <p:cNvPr id="19" name="Google Shape;19;p1"/>
          <p:cNvSpPr/>
          <p:nvPr/>
        </p:nvSpPr>
        <p:spPr>
          <a:xfrm>
            <a:off x="548640" y="4702425"/>
            <a:ext cx="5486400" cy="146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b="1" lang="en-US" sz="1300">
                <a:solidFill>
                  <a:srgbClr val="C8CCD2"/>
                </a:solidFill>
                <a:latin typeface="Calibri"/>
                <a:ea typeface="Calibri"/>
                <a:cs typeface="Calibri"/>
                <a:sym typeface="Calibri"/>
              </a:rPr>
              <a:t>Team 8</a:t>
            </a:r>
            <a:endParaRPr b="1" sz="1300">
              <a:solidFill>
                <a:srgbClr val="C8CCD2"/>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Rohith Kanathur</a:t>
            </a:r>
            <a:r>
              <a:rPr b="0" i="0" lang="en-US" sz="1300" u="none" cap="none" strike="noStrike">
                <a:solidFill>
                  <a:srgbClr val="C8CCD2"/>
                </a:solidFill>
                <a:latin typeface="Calibri"/>
                <a:ea typeface="Calibri"/>
                <a:cs typeface="Calibri"/>
                <a:sym typeface="Calibri"/>
              </a:rPr>
              <a:t> · rk3443</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Sagar Chethan Kumar</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sc5758</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Ananya Kapoor</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ak5447</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Dev Bahl</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db3791</a:t>
            </a:r>
            <a:endParaRPr b="0" i="0" sz="1600" u="none" cap="none" strike="noStrike">
              <a:solidFill>
                <a:schemeClr val="dk1"/>
              </a:solidFill>
              <a:latin typeface="Calibri"/>
              <a:ea typeface="Calibri"/>
              <a:cs typeface="Calibri"/>
              <a:sym typeface="Calibri"/>
            </a:endParaRPr>
          </a:p>
        </p:txBody>
      </p:sp>
      <p:sp>
        <p:nvSpPr>
          <p:cNvPr id="20" name="Google Shape;20;p1"/>
          <p:cNvSpPr/>
          <p:nvPr/>
        </p:nvSpPr>
        <p:spPr>
          <a:xfrm>
            <a:off x="6400800" y="4702400"/>
            <a:ext cx="5486400" cy="146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GitHub:  </a:t>
            </a:r>
            <a:r>
              <a:rPr lang="en-US" sz="1300">
                <a:solidFill>
                  <a:srgbClr val="FFFFFF"/>
                </a:solidFill>
                <a:latin typeface="Calibri"/>
                <a:ea typeface="Calibri"/>
                <a:cs typeface="Calibri"/>
                <a:sym typeface="Calibri"/>
              </a:rPr>
              <a:t>https://github.com/Rohith-Kanathur/AssetOpsBench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Tracking:  </a:t>
            </a:r>
            <a:r>
              <a:rPr lang="en-US" sz="1300">
                <a:solidFill>
                  <a:srgbClr val="FFFFFF"/>
                </a:solidFill>
                <a:latin typeface="Calibri"/>
                <a:ea typeface="Calibri"/>
                <a:cs typeface="Calibri"/>
                <a:sym typeface="Calibri"/>
              </a:rPr>
              <a:t>https://wandb.ai/rk3443-columbia-university/assetopsbench</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548640" y="64008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1000"/>
              <a:buFont typeface="Calibri"/>
              <a:buNone/>
            </a:pPr>
            <a:r>
              <a:rPr b="0" i="1" lang="en-US" sz="1000" u="none" cap="none" strike="noStrike">
                <a:solidFill>
                  <a:srgbClr val="8E939A"/>
                </a:solidFill>
                <a:latin typeface="Calibri"/>
                <a:ea typeface="Calibri"/>
                <a:cs typeface="Calibri"/>
                <a:sym typeface="Calibri"/>
              </a:rPr>
              <a:t>Dr. Kaoutar El Maghraoui  ·  Columbia University  ·  Week of May 4,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Motivation &amp; Problem</a:t>
            </a:r>
            <a:endParaRPr b="0" i="0" sz="3200" u="none" cap="none" strike="noStrike">
              <a:solidFill>
                <a:schemeClr val="dk1"/>
              </a:solidFill>
              <a:latin typeface="Calibri"/>
              <a:ea typeface="Calibri"/>
              <a:cs typeface="Calibri"/>
              <a:sym typeface="Calibri"/>
            </a:endParaRPr>
          </a:p>
        </p:txBody>
      </p:sp>
      <p:cxnSp>
        <p:nvCxnSpPr>
          <p:cNvPr id="28" name="Google Shape;28;p2"/>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9" name="Google Shape;29;p2"/>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Why this matters</a:t>
            </a:r>
            <a:endParaRPr b="0" i="0" sz="1600" u="none" cap="none" strike="noStrike">
              <a:solidFill>
                <a:schemeClr val="dk1"/>
              </a:solidFill>
              <a:latin typeface="Calibri"/>
              <a:ea typeface="Calibri"/>
              <a:cs typeface="Calibri"/>
              <a:sym typeface="Calibri"/>
            </a:endParaRPr>
          </a:p>
        </p:txBody>
      </p:sp>
      <p:sp>
        <p:nvSpPr>
          <p:cNvPr id="30" name="Google Shape;30;p2"/>
          <p:cNvSpPr/>
          <p:nvPr/>
        </p:nvSpPr>
        <p:spPr>
          <a:xfrm>
            <a:off x="457200" y="2286000"/>
            <a:ext cx="5486400" cy="3657600"/>
          </a:xfrm>
          <a:prstGeom prst="rect">
            <a:avLst/>
          </a:prstGeom>
          <a:noFill/>
          <a:ln>
            <a:noFill/>
          </a:ln>
        </p:spPr>
        <p:txBody>
          <a:bodyPr anchorCtr="0" anchor="t" bIns="45700" lIns="91425" spcFirstLastPara="1" rIns="91425" wrap="square" tIns="45700">
            <a:noAutofit/>
          </a:bodyPr>
          <a:lstStyle/>
          <a:p>
            <a:pPr indent="-323850" lvl="0" marL="4572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Industrial asset operations depend on continuous monitoring across heterogeneous data: IoT telemetry, failure-mode libraries, oil chemistry readings, and maintenance logs.</a:t>
            </a:r>
            <a:endParaRPr sz="1500">
              <a:solidFill>
                <a:srgbClr val="1A1A1A"/>
              </a:solidFill>
              <a:latin typeface="Calibri"/>
              <a:ea typeface="Calibri"/>
              <a:cs typeface="Calibri"/>
              <a:sym typeface="Calibri"/>
            </a:endParaRPr>
          </a:p>
          <a:p>
            <a:pPr indent="-323850" lvl="0" marL="4572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Evaluating LLM-based agents on these tasks requires realistic, standards-compliant scenarios across diverse asset classes and lifecycle phases.</a:t>
            </a:r>
            <a:endParaRPr sz="1500">
              <a:solidFill>
                <a:srgbClr val="1A1A1A"/>
              </a:solidFill>
              <a:latin typeface="Calibri"/>
              <a:ea typeface="Calibri"/>
              <a:cs typeface="Calibri"/>
              <a:sym typeface="Calibri"/>
            </a:endParaRPr>
          </a:p>
          <a:p>
            <a:pPr indent="-323850" lvl="0" marL="4572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Manual scenario authoring by subject-matter experts (SMEs) is slow, inconsistent, and cannot scale to new asset classes.</a:t>
            </a:r>
            <a:endParaRPr sz="1500">
              <a:solidFill>
                <a:srgbClr val="1A1A1A"/>
              </a:solidFill>
              <a:latin typeface="Calibri"/>
              <a:ea typeface="Calibri"/>
              <a:cs typeface="Calibri"/>
              <a:sym typeface="Calibri"/>
            </a:endParaRPr>
          </a:p>
        </p:txBody>
      </p:sp>
      <p:sp>
        <p:nvSpPr>
          <p:cNvPr id="31" name="Google Shape;31;p2"/>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Problem statement</a:t>
            </a:r>
            <a:endParaRPr b="0" i="0" sz="1600" u="none" cap="none" strike="noStrike">
              <a:solidFill>
                <a:schemeClr val="dk1"/>
              </a:solidFill>
              <a:latin typeface="Calibri"/>
              <a:ea typeface="Calibri"/>
              <a:cs typeface="Calibri"/>
              <a:sym typeface="Calibri"/>
            </a:endParaRPr>
          </a:p>
        </p:txBody>
      </p:sp>
      <p:sp>
        <p:nvSpPr>
          <p:cNvPr id="32" name="Google Shape;32;p2"/>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0" lvl="0" marL="0" rtl="0" algn="l">
              <a:spcBef>
                <a:spcPts val="800"/>
              </a:spcBef>
              <a:spcAft>
                <a:spcPts val="0"/>
              </a:spcAft>
              <a:buClr>
                <a:srgbClr val="1A1A1A"/>
              </a:buClr>
              <a:buSzPts val="1500"/>
              <a:buFont typeface="Calibri"/>
              <a:buNone/>
            </a:pPr>
            <a:r>
              <a:rPr i="1" lang="en-US" sz="1500">
                <a:solidFill>
                  <a:srgbClr val="1A1A1A"/>
                </a:solidFill>
                <a:latin typeface="Calibri"/>
                <a:ea typeface="Calibri"/>
                <a:cs typeface="Calibri"/>
                <a:sym typeface="Calibri"/>
              </a:rPr>
              <a:t>Extending AssetOpsBench to new industrial assets requires manually authoring physically plausible, standards-compliant, tool-reachable evaluation scenarios, a bottleneck that blocks benchmark coverage and delays agent evaluation.</a:t>
            </a:r>
            <a:endParaRPr i="1" sz="1500">
              <a:solidFill>
                <a:srgbClr val="1A1A1A"/>
              </a:solidFill>
              <a:latin typeface="Calibri"/>
              <a:ea typeface="Calibri"/>
              <a:cs typeface="Calibri"/>
              <a:sym typeface="Calibri"/>
            </a:endParaRPr>
          </a:p>
          <a:p>
            <a:pPr indent="0" lvl="0" marL="0" rtl="0" algn="l">
              <a:spcBef>
                <a:spcPts val="800"/>
              </a:spcBef>
              <a:spcAft>
                <a:spcPts val="0"/>
              </a:spcAft>
              <a:buClr>
                <a:srgbClr val="1A1A1A"/>
              </a:buClr>
              <a:buSzPts val="1500"/>
              <a:buFont typeface="Calibri"/>
              <a:buNone/>
            </a:pPr>
            <a:r>
              <a:rPr b="1" i="1" lang="en-US" sz="1500">
                <a:solidFill>
                  <a:srgbClr val="1A1A1A"/>
                </a:solidFill>
                <a:latin typeface="Calibri"/>
                <a:ea typeface="Calibri"/>
                <a:cs typeface="Calibri"/>
                <a:sym typeface="Calibri"/>
              </a:rPr>
              <a:t>Goal: </a:t>
            </a:r>
            <a:r>
              <a:rPr i="1" lang="en-US" sz="1500">
                <a:solidFill>
                  <a:srgbClr val="1A1A1A"/>
                </a:solidFill>
                <a:latin typeface="Calibri"/>
                <a:ea typeface="Calibri"/>
                <a:cs typeface="Calibri"/>
                <a:sym typeface="Calibri"/>
              </a:rPr>
              <a:t>Automate high-fidelity scenario generation for any new asset class, while applying optimization techniques such as caching, thread pool offloading and parallel scenario generation to achieve a </a:t>
            </a:r>
            <a:r>
              <a:rPr i="1" lang="en-US" sz="1500">
                <a:solidFill>
                  <a:srgbClr val="1A1A1A"/>
                </a:solidFill>
                <a:latin typeface="Calibri"/>
                <a:ea typeface="Calibri"/>
                <a:cs typeface="Calibri"/>
                <a:sym typeface="Calibri"/>
              </a:rPr>
              <a:t>speedup</a:t>
            </a:r>
            <a:r>
              <a:rPr i="1" lang="en-US" sz="1500">
                <a:solidFill>
                  <a:srgbClr val="1A1A1A"/>
                </a:solidFill>
                <a:latin typeface="Calibri"/>
                <a:ea typeface="Calibri"/>
                <a:cs typeface="Calibri"/>
                <a:sym typeface="Calibri"/>
              </a:rPr>
              <a:t> of 8× over the unoptimised baseline, with no degradation in composite scenario quality.</a:t>
            </a:r>
            <a:endParaRPr i="1" sz="1500">
              <a:solidFill>
                <a:srgbClr val="1A1A1A"/>
              </a:solidFill>
              <a:latin typeface="Calibri"/>
              <a:ea typeface="Calibri"/>
              <a:cs typeface="Calibri"/>
              <a:sym typeface="Calibri"/>
            </a:endParaRPr>
          </a:p>
        </p:txBody>
      </p:sp>
      <p:sp>
        <p:nvSpPr>
          <p:cNvPr id="33" name="Google Shape;33;p2"/>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4" name="Google Shape;34;p2"/>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2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grpSp>
        <p:nvGrpSpPr>
          <p:cNvPr id="40" name="Google Shape;40;g39a876354f6_6_11"/>
          <p:cNvGrpSpPr/>
          <p:nvPr/>
        </p:nvGrpSpPr>
        <p:grpSpPr>
          <a:xfrm>
            <a:off x="-98398" y="1406257"/>
            <a:ext cx="12290408" cy="4045498"/>
            <a:chOff x="85975" y="1223700"/>
            <a:chExt cx="8190875" cy="2696100"/>
          </a:xfrm>
        </p:grpSpPr>
        <p:sp>
          <p:nvSpPr>
            <p:cNvPr id="41" name="Google Shape;41;g39a876354f6_6_11"/>
            <p:cNvSpPr/>
            <p:nvPr/>
          </p:nvSpPr>
          <p:spPr>
            <a:xfrm>
              <a:off x="1016875" y="1223700"/>
              <a:ext cx="6542100" cy="2696100"/>
            </a:xfrm>
            <a:prstGeom prst="roundRect">
              <a:avLst>
                <a:gd fmla="val 0" name="adj"/>
              </a:avLst>
            </a:prstGeom>
            <a:solidFill>
              <a:srgbClr val="EEEEEE"/>
            </a:solidFill>
            <a:ln cap="flat" cmpd="sng" w="14275">
              <a:solidFill>
                <a:srgbClr val="595959"/>
              </a:solidFill>
              <a:prstDash val="lgDash"/>
              <a:round/>
              <a:headEnd len="sm" w="sm" type="none"/>
              <a:tailEnd len="sm" w="sm" type="none"/>
            </a:ln>
          </p:spPr>
          <p:txBody>
            <a:bodyPr anchorCtr="0" anchor="ctr" bIns="137175" lIns="137175" spcFirstLastPara="1" rIns="137175" wrap="square" tIns="137175">
              <a:noAutofit/>
            </a:bodyPr>
            <a:lstStyle/>
            <a:p>
              <a:pPr indent="0" lvl="0" marL="0" rtl="0" algn="ctr">
                <a:spcBef>
                  <a:spcPts val="0"/>
                </a:spcBef>
                <a:spcAft>
                  <a:spcPts val="0"/>
                </a:spcAft>
                <a:buNone/>
              </a:pPr>
              <a:r>
                <a:t/>
              </a:r>
              <a:endParaRPr sz="2101">
                <a:latin typeface="Geist"/>
                <a:ea typeface="Geist"/>
                <a:cs typeface="Geist"/>
                <a:sym typeface="Geist"/>
              </a:endParaRPr>
            </a:p>
          </p:txBody>
        </p:sp>
        <p:sp>
          <p:nvSpPr>
            <p:cNvPr id="42" name="Google Shape;42;g39a876354f6_6_11"/>
            <p:cNvSpPr/>
            <p:nvPr/>
          </p:nvSpPr>
          <p:spPr>
            <a:xfrm>
              <a:off x="1194400" y="1411250"/>
              <a:ext cx="915000" cy="2317200"/>
            </a:xfrm>
            <a:prstGeom prst="roundRect">
              <a:avLst>
                <a:gd fmla="val 16667" name="adj"/>
              </a:avLst>
            </a:prstGeom>
            <a:solidFill>
              <a:srgbClr val="C9DAF8"/>
            </a:solidFill>
            <a:ln cap="flat" cmpd="sng" w="14275">
              <a:solidFill>
                <a:srgbClr val="595959"/>
              </a:solidFill>
              <a:prstDash val="solid"/>
              <a:round/>
              <a:headEnd len="sm" w="sm" type="none"/>
              <a:tailEnd len="sm" w="sm" type="none"/>
            </a:ln>
          </p:spPr>
          <p:txBody>
            <a:bodyPr anchorCtr="0" anchor="t" bIns="137175" lIns="137175" spcFirstLastPara="1" rIns="137175" wrap="square" tIns="137175">
              <a:noAutofit/>
            </a:bodyPr>
            <a:lstStyle/>
            <a:p>
              <a:pPr indent="0" lvl="0" marL="0" rtl="0" algn="ctr">
                <a:spcBef>
                  <a:spcPts val="0"/>
                </a:spcBef>
                <a:spcAft>
                  <a:spcPts val="0"/>
                </a:spcAft>
                <a:buNone/>
              </a:pPr>
              <a:r>
                <a:t/>
              </a:r>
              <a:endParaRPr sz="1500">
                <a:latin typeface="Geist"/>
                <a:ea typeface="Geist"/>
                <a:cs typeface="Geist"/>
                <a:sym typeface="Geist"/>
              </a:endParaRPr>
            </a:p>
          </p:txBody>
        </p:sp>
        <p:sp>
          <p:nvSpPr>
            <p:cNvPr id="43" name="Google Shape;43;g39a876354f6_6_11"/>
            <p:cNvSpPr/>
            <p:nvPr/>
          </p:nvSpPr>
          <p:spPr>
            <a:xfrm>
              <a:off x="2917788" y="1396800"/>
              <a:ext cx="915000" cy="2233500"/>
            </a:xfrm>
            <a:prstGeom prst="roundRect">
              <a:avLst>
                <a:gd fmla="val 16667" name="adj"/>
              </a:avLst>
            </a:prstGeom>
            <a:solidFill>
              <a:srgbClr val="D9EAD3"/>
            </a:solidFill>
            <a:ln cap="flat" cmpd="sng" w="14275">
              <a:solidFill>
                <a:srgbClr val="595959"/>
              </a:solidFill>
              <a:prstDash val="solid"/>
              <a:round/>
              <a:headEnd len="sm" w="sm" type="none"/>
              <a:tailEnd len="sm" w="sm" type="none"/>
            </a:ln>
          </p:spPr>
          <p:txBody>
            <a:bodyPr anchorCtr="0" anchor="t" bIns="137175" lIns="137175" spcFirstLastPara="1" rIns="137175" wrap="square" tIns="137175">
              <a:noAutofit/>
            </a:bodyPr>
            <a:lstStyle/>
            <a:p>
              <a:pPr indent="0" lvl="0" marL="0" rtl="0" algn="ctr">
                <a:spcBef>
                  <a:spcPts val="0"/>
                </a:spcBef>
                <a:spcAft>
                  <a:spcPts val="0"/>
                </a:spcAft>
                <a:buNone/>
              </a:pPr>
              <a:r>
                <a:t/>
              </a:r>
              <a:endParaRPr sz="1500">
                <a:latin typeface="Geist"/>
                <a:ea typeface="Geist"/>
                <a:cs typeface="Geist"/>
                <a:sym typeface="Geist"/>
              </a:endParaRPr>
            </a:p>
          </p:txBody>
        </p:sp>
        <p:grpSp>
          <p:nvGrpSpPr>
            <p:cNvPr id="44" name="Google Shape;44;g39a876354f6_6_11"/>
            <p:cNvGrpSpPr/>
            <p:nvPr/>
          </p:nvGrpSpPr>
          <p:grpSpPr>
            <a:xfrm>
              <a:off x="2229938" y="2341657"/>
              <a:ext cx="603600" cy="460205"/>
              <a:chOff x="2410825" y="2414395"/>
              <a:chExt cx="603600" cy="460205"/>
            </a:xfrm>
          </p:grpSpPr>
          <p:pic>
            <p:nvPicPr>
              <p:cNvPr id="45" name="Google Shape;45;g39a876354f6_6_11"/>
              <p:cNvPicPr preferRelativeResize="0"/>
              <p:nvPr/>
            </p:nvPicPr>
            <p:blipFill>
              <a:blip r:embed="rId3">
                <a:alphaModFix/>
              </a:blip>
              <a:stretch>
                <a:fillRect/>
              </a:stretch>
            </p:blipFill>
            <p:spPr>
              <a:xfrm>
                <a:off x="2517200" y="2414395"/>
                <a:ext cx="342900" cy="342900"/>
              </a:xfrm>
              <a:prstGeom prst="rect">
                <a:avLst/>
              </a:prstGeom>
              <a:noFill/>
              <a:ln>
                <a:noFill/>
              </a:ln>
            </p:spPr>
          </p:pic>
          <p:sp>
            <p:nvSpPr>
              <p:cNvPr id="46" name="Google Shape;46;g39a876354f6_6_11"/>
              <p:cNvSpPr txBox="1"/>
              <p:nvPr/>
            </p:nvSpPr>
            <p:spPr>
              <a:xfrm>
                <a:off x="2410825" y="2757300"/>
                <a:ext cx="6036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Asset Profile</a:t>
                </a:r>
                <a:endParaRPr sz="600">
                  <a:solidFill>
                    <a:srgbClr val="595959"/>
                  </a:solidFill>
                  <a:latin typeface="Geist"/>
                  <a:ea typeface="Geist"/>
                  <a:cs typeface="Geist"/>
                  <a:sym typeface="Geist"/>
                </a:endParaRPr>
              </a:p>
            </p:txBody>
          </p:sp>
        </p:grpSp>
        <p:grpSp>
          <p:nvGrpSpPr>
            <p:cNvPr id="47" name="Google Shape;47;g39a876354f6_6_11"/>
            <p:cNvGrpSpPr/>
            <p:nvPr/>
          </p:nvGrpSpPr>
          <p:grpSpPr>
            <a:xfrm>
              <a:off x="1307200" y="1734875"/>
              <a:ext cx="689400" cy="1277388"/>
              <a:chOff x="1433950" y="1703950"/>
              <a:chExt cx="689400" cy="1277388"/>
            </a:xfrm>
          </p:grpSpPr>
          <p:grpSp>
            <p:nvGrpSpPr>
              <p:cNvPr id="48" name="Google Shape;48;g39a876354f6_6_11"/>
              <p:cNvGrpSpPr/>
              <p:nvPr/>
            </p:nvGrpSpPr>
            <p:grpSpPr>
              <a:xfrm>
                <a:off x="1476850" y="1703950"/>
                <a:ext cx="603600" cy="508800"/>
                <a:chOff x="1476850" y="1638875"/>
                <a:chExt cx="603600" cy="508800"/>
              </a:xfrm>
            </p:grpSpPr>
            <p:pic>
              <p:nvPicPr>
                <p:cNvPr id="49" name="Google Shape;49;g39a876354f6_6_11"/>
                <p:cNvPicPr preferRelativeResize="0"/>
                <p:nvPr/>
              </p:nvPicPr>
              <p:blipFill>
                <a:blip r:embed="rId4">
                  <a:alphaModFix/>
                </a:blip>
                <a:stretch>
                  <a:fillRect/>
                </a:stretch>
              </p:blipFill>
              <p:spPr>
                <a:xfrm>
                  <a:off x="1607200" y="1638875"/>
                  <a:ext cx="342900" cy="342900"/>
                </a:xfrm>
                <a:prstGeom prst="rect">
                  <a:avLst/>
                </a:prstGeom>
                <a:noFill/>
                <a:ln>
                  <a:noFill/>
                </a:ln>
              </p:spPr>
            </p:pic>
            <p:sp>
              <p:nvSpPr>
                <p:cNvPr id="50" name="Google Shape;50;g39a876354f6_6_11"/>
                <p:cNvSpPr txBox="1"/>
                <p:nvPr/>
              </p:nvSpPr>
              <p:spPr>
                <a:xfrm>
                  <a:off x="1476850" y="1981775"/>
                  <a:ext cx="603600" cy="1659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Arxiv/Semantic Scholar</a:t>
                  </a:r>
                  <a:endParaRPr sz="600">
                    <a:solidFill>
                      <a:srgbClr val="595959"/>
                    </a:solidFill>
                    <a:latin typeface="Geist"/>
                    <a:ea typeface="Geist"/>
                    <a:cs typeface="Geist"/>
                    <a:sym typeface="Geist"/>
                  </a:endParaRPr>
                </a:p>
              </p:txBody>
            </p:sp>
          </p:grpSp>
          <p:pic>
            <p:nvPicPr>
              <p:cNvPr id="51" name="Google Shape;51;g39a876354f6_6_11"/>
              <p:cNvPicPr preferRelativeResize="0"/>
              <p:nvPr/>
            </p:nvPicPr>
            <p:blipFill>
              <a:blip r:embed="rId5">
                <a:alphaModFix/>
              </a:blip>
              <a:stretch>
                <a:fillRect/>
              </a:stretch>
            </p:blipFill>
            <p:spPr>
              <a:xfrm>
                <a:off x="1607200" y="2539738"/>
                <a:ext cx="342900" cy="342900"/>
              </a:xfrm>
              <a:prstGeom prst="rect">
                <a:avLst/>
              </a:prstGeom>
              <a:noFill/>
              <a:ln>
                <a:noFill/>
              </a:ln>
            </p:spPr>
          </p:pic>
          <p:sp>
            <p:nvSpPr>
              <p:cNvPr id="52" name="Google Shape;52;g39a876354f6_6_11"/>
              <p:cNvSpPr txBox="1"/>
              <p:nvPr/>
            </p:nvSpPr>
            <p:spPr>
              <a:xfrm>
                <a:off x="1433950" y="2882638"/>
                <a:ext cx="689400" cy="987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Digest Synthesizer</a:t>
                </a:r>
                <a:endParaRPr sz="600">
                  <a:solidFill>
                    <a:srgbClr val="595959"/>
                  </a:solidFill>
                  <a:latin typeface="Geist"/>
                  <a:ea typeface="Geist"/>
                  <a:cs typeface="Geist"/>
                  <a:sym typeface="Geist"/>
                </a:endParaRPr>
              </a:p>
            </p:txBody>
          </p:sp>
          <p:cxnSp>
            <p:nvCxnSpPr>
              <p:cNvPr id="53" name="Google Shape;53;g39a876354f6_6_11"/>
              <p:cNvCxnSpPr>
                <a:stCxn id="49" idx="1"/>
                <a:endCxn id="51" idx="1"/>
              </p:cNvCxnSpPr>
              <p:nvPr/>
            </p:nvCxnSpPr>
            <p:spPr>
              <a:xfrm>
                <a:off x="1607200" y="1875400"/>
                <a:ext cx="300" cy="835800"/>
              </a:xfrm>
              <a:prstGeom prst="curvedConnector3">
                <a:avLst>
                  <a:gd fmla="val -71099145" name="adj1"/>
                </a:avLst>
              </a:prstGeom>
              <a:noFill/>
              <a:ln cap="flat" cmpd="sng" w="14275">
                <a:solidFill>
                  <a:srgbClr val="595959"/>
                </a:solidFill>
                <a:prstDash val="solid"/>
                <a:round/>
                <a:headEnd len="med" w="med" type="triangle"/>
                <a:tailEnd len="med" w="med" type="stealth"/>
              </a:ln>
            </p:spPr>
          </p:cxnSp>
          <p:cxnSp>
            <p:nvCxnSpPr>
              <p:cNvPr id="54" name="Google Shape;54;g39a876354f6_6_11"/>
              <p:cNvCxnSpPr>
                <a:stCxn id="49" idx="3"/>
                <a:endCxn id="51" idx="3"/>
              </p:cNvCxnSpPr>
              <p:nvPr/>
            </p:nvCxnSpPr>
            <p:spPr>
              <a:xfrm>
                <a:off x="1950101" y="1875400"/>
                <a:ext cx="300" cy="835800"/>
              </a:xfrm>
              <a:prstGeom prst="curvedConnector3">
                <a:avLst>
                  <a:gd fmla="val 71099068" name="adj1"/>
                </a:avLst>
              </a:prstGeom>
              <a:noFill/>
              <a:ln cap="flat" cmpd="sng" w="14275">
                <a:solidFill>
                  <a:srgbClr val="595959"/>
                </a:solidFill>
                <a:prstDash val="solid"/>
                <a:round/>
                <a:headEnd len="med" w="med" type="triangle"/>
                <a:tailEnd len="med" w="med" type="stealth"/>
              </a:ln>
            </p:spPr>
          </p:cxnSp>
        </p:grpSp>
        <p:grpSp>
          <p:nvGrpSpPr>
            <p:cNvPr id="55" name="Google Shape;55;g39a876354f6_6_11"/>
            <p:cNvGrpSpPr/>
            <p:nvPr/>
          </p:nvGrpSpPr>
          <p:grpSpPr>
            <a:xfrm>
              <a:off x="1237450" y="3081625"/>
              <a:ext cx="828900" cy="460200"/>
              <a:chOff x="1381000" y="3308350"/>
              <a:chExt cx="828900" cy="460200"/>
            </a:xfrm>
          </p:grpSpPr>
          <p:pic>
            <p:nvPicPr>
              <p:cNvPr id="56" name="Google Shape;56;g39a876354f6_6_11"/>
              <p:cNvPicPr preferRelativeResize="0"/>
              <p:nvPr/>
            </p:nvPicPr>
            <p:blipFill>
              <a:blip r:embed="rId6">
                <a:alphaModFix/>
              </a:blip>
              <a:stretch>
                <a:fillRect/>
              </a:stretch>
            </p:blipFill>
            <p:spPr>
              <a:xfrm flipH="1">
                <a:off x="1607200" y="3308350"/>
                <a:ext cx="342900" cy="342900"/>
              </a:xfrm>
              <a:prstGeom prst="rect">
                <a:avLst/>
              </a:prstGeom>
              <a:noFill/>
              <a:ln>
                <a:noFill/>
              </a:ln>
            </p:spPr>
          </p:pic>
          <p:sp>
            <p:nvSpPr>
              <p:cNvPr id="57" name="Google Shape;57;g39a876354f6_6_11"/>
              <p:cNvSpPr txBox="1"/>
              <p:nvPr/>
            </p:nvSpPr>
            <p:spPr>
              <a:xfrm>
                <a:off x="1381000" y="3651250"/>
                <a:ext cx="8289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Grounding Discovery</a:t>
                </a:r>
                <a:endParaRPr sz="600">
                  <a:solidFill>
                    <a:srgbClr val="595959"/>
                  </a:solidFill>
                  <a:latin typeface="Geist"/>
                  <a:ea typeface="Geist"/>
                  <a:cs typeface="Geist"/>
                  <a:sym typeface="Geist"/>
                </a:endParaRPr>
              </a:p>
              <a:p>
                <a:pPr indent="0" lvl="0" marL="0" rtl="0" algn="ctr">
                  <a:spcBef>
                    <a:spcPts val="0"/>
                  </a:spcBef>
                  <a:spcAft>
                    <a:spcPts val="0"/>
                  </a:spcAft>
                  <a:buNone/>
                </a:pPr>
                <a:r>
                  <a:rPr lang="en-US" sz="600">
                    <a:solidFill>
                      <a:srgbClr val="595959"/>
                    </a:solidFill>
                    <a:latin typeface="Geist"/>
                    <a:ea typeface="Geist"/>
                    <a:cs typeface="Geist"/>
                    <a:sym typeface="Geist"/>
                  </a:rPr>
                  <a:t>(IoT, FMSR, Vibration)</a:t>
                </a:r>
                <a:endParaRPr sz="600">
                  <a:solidFill>
                    <a:srgbClr val="595959"/>
                  </a:solidFill>
                  <a:latin typeface="Geist"/>
                  <a:ea typeface="Geist"/>
                  <a:cs typeface="Geist"/>
                  <a:sym typeface="Geist"/>
                </a:endParaRPr>
              </a:p>
            </p:txBody>
          </p:sp>
        </p:grpSp>
        <p:cxnSp>
          <p:nvCxnSpPr>
            <p:cNvPr id="58" name="Google Shape;58;g39a876354f6_6_11"/>
            <p:cNvCxnSpPr>
              <a:stCxn id="56" idx="1"/>
              <a:endCxn id="45" idx="1"/>
            </p:cNvCxnSpPr>
            <p:nvPr/>
          </p:nvCxnSpPr>
          <p:spPr>
            <a:xfrm flipH="1" rot="10800000">
              <a:off x="1806550" y="2512975"/>
              <a:ext cx="529800" cy="740100"/>
            </a:xfrm>
            <a:prstGeom prst="straightConnector1">
              <a:avLst/>
            </a:prstGeom>
            <a:noFill/>
            <a:ln cap="flat" cmpd="sng" w="14275">
              <a:solidFill>
                <a:srgbClr val="595959"/>
              </a:solidFill>
              <a:prstDash val="dot"/>
              <a:round/>
              <a:headEnd len="med" w="med" type="none"/>
              <a:tailEnd len="med" w="med" type="stealth"/>
            </a:ln>
          </p:spPr>
        </p:cxnSp>
        <p:cxnSp>
          <p:nvCxnSpPr>
            <p:cNvPr id="59" name="Google Shape;59;g39a876354f6_6_11"/>
            <p:cNvCxnSpPr>
              <a:stCxn id="51" idx="3"/>
              <a:endCxn id="45" idx="1"/>
            </p:cNvCxnSpPr>
            <p:nvPr/>
          </p:nvCxnSpPr>
          <p:spPr>
            <a:xfrm flipH="1" rot="10800000">
              <a:off x="1823350" y="2513213"/>
              <a:ext cx="513000" cy="228900"/>
            </a:xfrm>
            <a:prstGeom prst="straightConnector1">
              <a:avLst/>
            </a:prstGeom>
            <a:noFill/>
            <a:ln cap="flat" cmpd="sng" w="14275">
              <a:solidFill>
                <a:srgbClr val="595959"/>
              </a:solidFill>
              <a:prstDash val="dot"/>
              <a:round/>
              <a:headEnd len="med" w="med" type="none"/>
              <a:tailEnd len="med" w="med" type="stealth"/>
            </a:ln>
          </p:spPr>
        </p:cxnSp>
        <p:grpSp>
          <p:nvGrpSpPr>
            <p:cNvPr id="60" name="Google Shape;60;g39a876354f6_6_11"/>
            <p:cNvGrpSpPr/>
            <p:nvPr/>
          </p:nvGrpSpPr>
          <p:grpSpPr>
            <a:xfrm>
              <a:off x="2889162" y="2212600"/>
              <a:ext cx="972300" cy="590175"/>
              <a:chOff x="3112524" y="2095450"/>
              <a:chExt cx="972300" cy="590175"/>
            </a:xfrm>
          </p:grpSpPr>
          <p:grpSp>
            <p:nvGrpSpPr>
              <p:cNvPr id="61" name="Google Shape;61;g39a876354f6_6_11"/>
              <p:cNvGrpSpPr/>
              <p:nvPr/>
            </p:nvGrpSpPr>
            <p:grpSpPr>
              <a:xfrm>
                <a:off x="3296875" y="2225409"/>
                <a:ext cx="603600" cy="460216"/>
                <a:chOff x="2608850" y="1376359"/>
                <a:chExt cx="603600" cy="460216"/>
              </a:xfrm>
            </p:grpSpPr>
            <p:pic>
              <p:nvPicPr>
                <p:cNvPr id="62" name="Google Shape;62;g39a876354f6_6_11"/>
                <p:cNvPicPr preferRelativeResize="0"/>
                <p:nvPr/>
              </p:nvPicPr>
              <p:blipFill>
                <a:blip r:embed="rId7">
                  <a:alphaModFix/>
                </a:blip>
                <a:stretch>
                  <a:fillRect/>
                </a:stretch>
              </p:blipFill>
              <p:spPr>
                <a:xfrm>
                  <a:off x="2739200" y="1376359"/>
                  <a:ext cx="342900" cy="342916"/>
                </a:xfrm>
                <a:prstGeom prst="rect">
                  <a:avLst/>
                </a:prstGeom>
                <a:noFill/>
                <a:ln>
                  <a:noFill/>
                </a:ln>
              </p:spPr>
            </p:pic>
            <p:sp>
              <p:nvSpPr>
                <p:cNvPr id="63" name="Google Shape;63;g39a876354f6_6_11"/>
                <p:cNvSpPr txBox="1"/>
                <p:nvPr/>
              </p:nvSpPr>
              <p:spPr>
                <a:xfrm>
                  <a:off x="2608850" y="1719275"/>
                  <a:ext cx="6036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Budget Allocator</a:t>
                  </a:r>
                  <a:endParaRPr sz="600">
                    <a:solidFill>
                      <a:srgbClr val="595959"/>
                    </a:solidFill>
                    <a:latin typeface="Geist"/>
                    <a:ea typeface="Geist"/>
                    <a:cs typeface="Geist"/>
                    <a:sym typeface="Geist"/>
                  </a:endParaRPr>
                </a:p>
              </p:txBody>
            </p:sp>
          </p:grpSp>
          <p:sp>
            <p:nvSpPr>
              <p:cNvPr id="64" name="Google Shape;64;g39a876354f6_6_11"/>
              <p:cNvSpPr txBox="1"/>
              <p:nvPr/>
            </p:nvSpPr>
            <p:spPr>
              <a:xfrm>
                <a:off x="3112524" y="2095450"/>
                <a:ext cx="9723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i="1" lang="en-US" sz="600">
                    <a:solidFill>
                      <a:srgbClr val="595959"/>
                    </a:solidFill>
                    <a:latin typeface="Geist"/>
                    <a:ea typeface="Geist"/>
                    <a:cs typeface="Geist"/>
                    <a:sym typeface="Geist"/>
                  </a:rPr>
                  <a:t>Coverage-aware Quotas</a:t>
                </a:r>
                <a:endParaRPr i="1" sz="600">
                  <a:solidFill>
                    <a:srgbClr val="595959"/>
                  </a:solidFill>
                  <a:latin typeface="Geist"/>
                  <a:ea typeface="Geist"/>
                  <a:cs typeface="Geist"/>
                  <a:sym typeface="Geist"/>
                </a:endParaRPr>
              </a:p>
            </p:txBody>
          </p:sp>
        </p:grpSp>
        <p:cxnSp>
          <p:nvCxnSpPr>
            <p:cNvPr id="65" name="Google Shape;65;g39a876354f6_6_11"/>
            <p:cNvCxnSpPr>
              <a:stCxn id="45" idx="3"/>
              <a:endCxn id="43" idx="1"/>
            </p:cNvCxnSpPr>
            <p:nvPr/>
          </p:nvCxnSpPr>
          <p:spPr>
            <a:xfrm>
              <a:off x="2679213" y="2513108"/>
              <a:ext cx="238500" cy="300"/>
            </a:xfrm>
            <a:prstGeom prst="straightConnector1">
              <a:avLst/>
            </a:prstGeom>
            <a:noFill/>
            <a:ln cap="flat" cmpd="sng" w="14275">
              <a:solidFill>
                <a:srgbClr val="595959"/>
              </a:solidFill>
              <a:prstDash val="solid"/>
              <a:round/>
              <a:headEnd len="med" w="med" type="none"/>
              <a:tailEnd len="med" w="med" type="triangle"/>
            </a:ln>
          </p:spPr>
        </p:cxnSp>
        <p:pic>
          <p:nvPicPr>
            <p:cNvPr id="66" name="Google Shape;66;g39a876354f6_6_11"/>
            <p:cNvPicPr preferRelativeResize="0"/>
            <p:nvPr/>
          </p:nvPicPr>
          <p:blipFill>
            <a:blip r:embed="rId8">
              <a:alphaModFix/>
            </a:blip>
            <a:stretch>
              <a:fillRect/>
            </a:stretch>
          </p:blipFill>
          <p:spPr>
            <a:xfrm>
              <a:off x="400678" y="2399173"/>
              <a:ext cx="342900" cy="342900"/>
            </a:xfrm>
            <a:prstGeom prst="rect">
              <a:avLst/>
            </a:prstGeom>
            <a:noFill/>
            <a:ln>
              <a:noFill/>
            </a:ln>
          </p:spPr>
        </p:pic>
        <p:sp>
          <p:nvSpPr>
            <p:cNvPr id="67" name="Google Shape;67;g39a876354f6_6_11"/>
            <p:cNvSpPr txBox="1"/>
            <p:nvPr/>
          </p:nvSpPr>
          <p:spPr>
            <a:xfrm>
              <a:off x="85975" y="2742079"/>
              <a:ext cx="9723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Asset Class + Budget + Flags</a:t>
              </a:r>
              <a:endParaRPr sz="600">
                <a:solidFill>
                  <a:srgbClr val="595959"/>
                </a:solidFill>
                <a:latin typeface="Geist"/>
                <a:ea typeface="Geist"/>
                <a:cs typeface="Geist"/>
                <a:sym typeface="Geist"/>
              </a:endParaRPr>
            </a:p>
          </p:txBody>
        </p:sp>
        <p:cxnSp>
          <p:nvCxnSpPr>
            <p:cNvPr id="68" name="Google Shape;68;g39a876354f6_6_11"/>
            <p:cNvCxnSpPr>
              <a:stCxn id="43" idx="3"/>
              <a:endCxn id="69" idx="1"/>
            </p:cNvCxnSpPr>
            <p:nvPr/>
          </p:nvCxnSpPr>
          <p:spPr>
            <a:xfrm>
              <a:off x="3832788" y="2513550"/>
              <a:ext cx="269100" cy="0"/>
            </a:xfrm>
            <a:prstGeom prst="straightConnector1">
              <a:avLst/>
            </a:prstGeom>
            <a:noFill/>
            <a:ln cap="flat" cmpd="sng" w="14275">
              <a:solidFill>
                <a:srgbClr val="595959"/>
              </a:solidFill>
              <a:prstDash val="solid"/>
              <a:round/>
              <a:headEnd len="med" w="med" type="none"/>
              <a:tailEnd len="med" w="med" type="triangle"/>
            </a:ln>
          </p:spPr>
        </p:cxnSp>
        <p:cxnSp>
          <p:nvCxnSpPr>
            <p:cNvPr id="70" name="Google Shape;70;g39a876354f6_6_11"/>
            <p:cNvCxnSpPr>
              <a:stCxn id="66" idx="3"/>
              <a:endCxn id="42" idx="1"/>
            </p:cNvCxnSpPr>
            <p:nvPr/>
          </p:nvCxnSpPr>
          <p:spPr>
            <a:xfrm flipH="1" rot="10800000">
              <a:off x="743579" y="2569723"/>
              <a:ext cx="450900" cy="900"/>
            </a:xfrm>
            <a:prstGeom prst="straightConnector1">
              <a:avLst/>
            </a:prstGeom>
            <a:noFill/>
            <a:ln cap="flat" cmpd="sng" w="14275">
              <a:solidFill>
                <a:srgbClr val="595959"/>
              </a:solidFill>
              <a:prstDash val="solid"/>
              <a:round/>
              <a:headEnd len="med" w="med" type="none"/>
              <a:tailEnd len="med" w="med" type="triangle"/>
            </a:ln>
          </p:spPr>
        </p:cxnSp>
        <p:grpSp>
          <p:nvGrpSpPr>
            <p:cNvPr id="71" name="Google Shape;71;g39a876354f6_6_11"/>
            <p:cNvGrpSpPr/>
            <p:nvPr/>
          </p:nvGrpSpPr>
          <p:grpSpPr>
            <a:xfrm>
              <a:off x="4102000" y="1347900"/>
              <a:ext cx="3286800" cy="2331300"/>
              <a:chOff x="4911250" y="1347900"/>
              <a:chExt cx="3286800" cy="2331300"/>
            </a:xfrm>
          </p:grpSpPr>
          <p:grpSp>
            <p:nvGrpSpPr>
              <p:cNvPr id="72" name="Google Shape;72;g39a876354f6_6_11"/>
              <p:cNvGrpSpPr/>
              <p:nvPr/>
            </p:nvGrpSpPr>
            <p:grpSpPr>
              <a:xfrm>
                <a:off x="4911250" y="1347900"/>
                <a:ext cx="3286800" cy="2331300"/>
                <a:chOff x="4911250" y="1347900"/>
                <a:chExt cx="3286800" cy="2331300"/>
              </a:xfrm>
            </p:grpSpPr>
            <p:sp>
              <p:nvSpPr>
                <p:cNvPr id="69" name="Google Shape;69;g39a876354f6_6_11"/>
                <p:cNvSpPr/>
                <p:nvPr/>
              </p:nvSpPr>
              <p:spPr>
                <a:xfrm>
                  <a:off x="4911250" y="1347900"/>
                  <a:ext cx="3286800" cy="2331300"/>
                </a:xfrm>
                <a:prstGeom prst="roundRect">
                  <a:avLst>
                    <a:gd fmla="val 16667" name="adj"/>
                  </a:avLst>
                </a:prstGeom>
                <a:solidFill>
                  <a:srgbClr val="FCE5CD"/>
                </a:solidFill>
                <a:ln cap="flat" cmpd="sng" w="14275">
                  <a:solidFill>
                    <a:srgbClr val="595959"/>
                  </a:solidFill>
                  <a:prstDash val="solid"/>
                  <a:round/>
                  <a:headEnd len="sm" w="sm" type="none"/>
                  <a:tailEnd len="sm" w="sm" type="none"/>
                </a:ln>
              </p:spPr>
              <p:txBody>
                <a:bodyPr anchorCtr="0" anchor="t" bIns="137175" lIns="137175" spcFirstLastPara="1" rIns="137175" wrap="square" tIns="137175">
                  <a:noAutofit/>
                </a:bodyPr>
                <a:lstStyle/>
                <a:p>
                  <a:pPr indent="0" lvl="0" marL="0" rtl="0" algn="ctr">
                    <a:spcBef>
                      <a:spcPts val="0"/>
                    </a:spcBef>
                    <a:spcAft>
                      <a:spcPts val="0"/>
                    </a:spcAft>
                    <a:buNone/>
                  </a:pPr>
                  <a:r>
                    <a:t/>
                  </a:r>
                  <a:endParaRPr sz="1500">
                    <a:latin typeface="Geist"/>
                    <a:ea typeface="Geist"/>
                    <a:cs typeface="Geist"/>
                    <a:sym typeface="Geist"/>
                  </a:endParaRPr>
                </a:p>
              </p:txBody>
            </p:sp>
            <p:grpSp>
              <p:nvGrpSpPr>
                <p:cNvPr id="73" name="Google Shape;73;g39a876354f6_6_11"/>
                <p:cNvGrpSpPr/>
                <p:nvPr/>
              </p:nvGrpSpPr>
              <p:grpSpPr>
                <a:xfrm>
                  <a:off x="6378090" y="1879412"/>
                  <a:ext cx="710307" cy="563362"/>
                  <a:chOff x="6920879" y="2232488"/>
                  <a:chExt cx="780900" cy="563362"/>
                </a:xfrm>
              </p:grpSpPr>
              <p:grpSp>
                <p:nvGrpSpPr>
                  <p:cNvPr id="74" name="Google Shape;74;g39a876354f6_6_11"/>
                  <p:cNvGrpSpPr/>
                  <p:nvPr/>
                </p:nvGrpSpPr>
                <p:grpSpPr>
                  <a:xfrm>
                    <a:off x="6966600" y="2232488"/>
                    <a:ext cx="689450" cy="446075"/>
                    <a:chOff x="6308600" y="1642525"/>
                    <a:chExt cx="689450" cy="446075"/>
                  </a:xfrm>
                </p:grpSpPr>
                <p:pic>
                  <p:nvPicPr>
                    <p:cNvPr id="75" name="Google Shape;75;g39a876354f6_6_11"/>
                    <p:cNvPicPr preferRelativeResize="0"/>
                    <p:nvPr/>
                  </p:nvPicPr>
                  <p:blipFill>
                    <a:blip r:embed="rId9">
                      <a:alphaModFix/>
                    </a:blip>
                    <a:stretch>
                      <a:fillRect/>
                    </a:stretch>
                  </p:blipFill>
                  <p:spPr>
                    <a:xfrm>
                      <a:off x="6447350" y="1642525"/>
                      <a:ext cx="410650" cy="410650"/>
                    </a:xfrm>
                    <a:prstGeom prst="rect">
                      <a:avLst/>
                    </a:prstGeom>
                    <a:noFill/>
                    <a:ln>
                      <a:noFill/>
                    </a:ln>
                  </p:spPr>
                </p:pic>
                <p:pic>
                  <p:nvPicPr>
                    <p:cNvPr id="76" name="Google Shape;76;g39a876354f6_6_11"/>
                    <p:cNvPicPr preferRelativeResize="0"/>
                    <p:nvPr/>
                  </p:nvPicPr>
                  <p:blipFill>
                    <a:blip r:embed="rId9">
                      <a:alphaModFix/>
                    </a:blip>
                    <a:stretch>
                      <a:fillRect/>
                    </a:stretch>
                  </p:blipFill>
                  <p:spPr>
                    <a:xfrm>
                      <a:off x="6308600" y="1677950"/>
                      <a:ext cx="410650" cy="410650"/>
                    </a:xfrm>
                    <a:prstGeom prst="rect">
                      <a:avLst/>
                    </a:prstGeom>
                    <a:noFill/>
                    <a:ln>
                      <a:noFill/>
                    </a:ln>
                  </p:spPr>
                </p:pic>
                <p:pic>
                  <p:nvPicPr>
                    <p:cNvPr id="77" name="Google Shape;77;g39a876354f6_6_11"/>
                    <p:cNvPicPr preferRelativeResize="0"/>
                    <p:nvPr/>
                  </p:nvPicPr>
                  <p:blipFill>
                    <a:blip r:embed="rId9">
                      <a:alphaModFix/>
                    </a:blip>
                    <a:stretch>
                      <a:fillRect/>
                    </a:stretch>
                  </p:blipFill>
                  <p:spPr>
                    <a:xfrm>
                      <a:off x="6587400" y="1677950"/>
                      <a:ext cx="410650" cy="410650"/>
                    </a:xfrm>
                    <a:prstGeom prst="rect">
                      <a:avLst/>
                    </a:prstGeom>
                    <a:noFill/>
                    <a:ln>
                      <a:noFill/>
                    </a:ln>
                  </p:spPr>
                </p:pic>
              </p:grpSp>
              <p:sp>
                <p:nvSpPr>
                  <p:cNvPr id="78" name="Google Shape;78;g39a876354f6_6_11"/>
                  <p:cNvSpPr txBox="1"/>
                  <p:nvPr/>
                </p:nvSpPr>
                <p:spPr>
                  <a:xfrm>
                    <a:off x="6920879" y="2678550"/>
                    <a:ext cx="7809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Multi-domain Generation</a:t>
                    </a:r>
                    <a:endParaRPr sz="600">
                      <a:solidFill>
                        <a:srgbClr val="595959"/>
                      </a:solidFill>
                      <a:latin typeface="Geist"/>
                      <a:ea typeface="Geist"/>
                      <a:cs typeface="Geist"/>
                      <a:sym typeface="Geist"/>
                    </a:endParaRPr>
                  </a:p>
                </p:txBody>
              </p:sp>
            </p:grpSp>
            <p:grpSp>
              <p:nvGrpSpPr>
                <p:cNvPr id="79" name="Google Shape;79;g39a876354f6_6_11"/>
                <p:cNvGrpSpPr/>
                <p:nvPr/>
              </p:nvGrpSpPr>
              <p:grpSpPr>
                <a:xfrm>
                  <a:off x="5204407" y="1913512"/>
                  <a:ext cx="766247" cy="527950"/>
                  <a:chOff x="5241900" y="2049675"/>
                  <a:chExt cx="842400" cy="527950"/>
                </a:xfrm>
              </p:grpSpPr>
              <p:pic>
                <p:nvPicPr>
                  <p:cNvPr id="80" name="Google Shape;80;g39a876354f6_6_11"/>
                  <p:cNvPicPr preferRelativeResize="0"/>
                  <p:nvPr/>
                </p:nvPicPr>
                <p:blipFill>
                  <a:blip r:embed="rId9">
                    <a:alphaModFix/>
                  </a:blip>
                  <a:stretch>
                    <a:fillRect/>
                  </a:stretch>
                </p:blipFill>
                <p:spPr>
                  <a:xfrm>
                    <a:off x="5457775" y="2049675"/>
                    <a:ext cx="410650" cy="410650"/>
                  </a:xfrm>
                  <a:prstGeom prst="rect">
                    <a:avLst/>
                  </a:prstGeom>
                  <a:noFill/>
                  <a:ln>
                    <a:noFill/>
                  </a:ln>
                </p:spPr>
              </p:pic>
              <p:sp>
                <p:nvSpPr>
                  <p:cNvPr id="81" name="Google Shape;81;g39a876354f6_6_11"/>
                  <p:cNvSpPr txBox="1"/>
                  <p:nvPr/>
                </p:nvSpPr>
                <p:spPr>
                  <a:xfrm>
                    <a:off x="5241900" y="2460325"/>
                    <a:ext cx="8424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Single-domain Generation</a:t>
                    </a:r>
                    <a:endParaRPr sz="600">
                      <a:solidFill>
                        <a:srgbClr val="595959"/>
                      </a:solidFill>
                      <a:latin typeface="Geist"/>
                      <a:ea typeface="Geist"/>
                      <a:cs typeface="Geist"/>
                      <a:sym typeface="Geist"/>
                    </a:endParaRPr>
                  </a:p>
                </p:txBody>
              </p:sp>
            </p:grpSp>
            <p:grpSp>
              <p:nvGrpSpPr>
                <p:cNvPr id="82" name="Google Shape;82;g39a876354f6_6_11"/>
                <p:cNvGrpSpPr/>
                <p:nvPr/>
              </p:nvGrpSpPr>
              <p:grpSpPr>
                <a:xfrm>
                  <a:off x="5753112" y="2757237"/>
                  <a:ext cx="766247" cy="460200"/>
                  <a:chOff x="5906062" y="3076050"/>
                  <a:chExt cx="842400" cy="460200"/>
                </a:xfrm>
              </p:grpSpPr>
              <p:pic>
                <p:nvPicPr>
                  <p:cNvPr id="83" name="Google Shape;83;g39a876354f6_6_11"/>
                  <p:cNvPicPr preferRelativeResize="0"/>
                  <p:nvPr/>
                </p:nvPicPr>
                <p:blipFill>
                  <a:blip r:embed="rId10">
                    <a:alphaModFix/>
                  </a:blip>
                  <a:stretch>
                    <a:fillRect/>
                  </a:stretch>
                </p:blipFill>
                <p:spPr>
                  <a:xfrm>
                    <a:off x="6155813" y="3076050"/>
                    <a:ext cx="342900" cy="342900"/>
                  </a:xfrm>
                  <a:prstGeom prst="rect">
                    <a:avLst/>
                  </a:prstGeom>
                  <a:noFill/>
                  <a:ln>
                    <a:noFill/>
                  </a:ln>
                </p:spPr>
              </p:pic>
              <p:sp>
                <p:nvSpPr>
                  <p:cNvPr id="84" name="Google Shape;84;g39a876354f6_6_11"/>
                  <p:cNvSpPr txBox="1"/>
                  <p:nvPr/>
                </p:nvSpPr>
                <p:spPr>
                  <a:xfrm>
                    <a:off x="5906062" y="3418950"/>
                    <a:ext cx="8424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Validate &amp; Repair Agent</a:t>
                    </a:r>
                    <a:endParaRPr sz="600">
                      <a:solidFill>
                        <a:srgbClr val="595959"/>
                      </a:solidFill>
                      <a:latin typeface="Geist"/>
                      <a:ea typeface="Geist"/>
                      <a:cs typeface="Geist"/>
                      <a:sym typeface="Geist"/>
                    </a:endParaRPr>
                  </a:p>
                </p:txBody>
              </p:sp>
            </p:grpSp>
            <p:cxnSp>
              <p:nvCxnSpPr>
                <p:cNvPr id="85" name="Google Shape;85;g39a876354f6_6_11"/>
                <p:cNvCxnSpPr>
                  <a:stCxn id="77" idx="3"/>
                  <a:endCxn id="83" idx="3"/>
                </p:cNvCxnSpPr>
                <p:nvPr/>
              </p:nvCxnSpPr>
              <p:spPr>
                <a:xfrm flipH="1">
                  <a:off x="6292301" y="2120162"/>
                  <a:ext cx="754500" cy="808500"/>
                </a:xfrm>
                <a:prstGeom prst="curvedConnector3">
                  <a:avLst>
                    <a:gd fmla="val -28270" name="adj1"/>
                  </a:avLst>
                </a:prstGeom>
                <a:noFill/>
                <a:ln cap="flat" cmpd="sng" w="14275">
                  <a:solidFill>
                    <a:srgbClr val="595959"/>
                  </a:solidFill>
                  <a:prstDash val="solid"/>
                  <a:round/>
                  <a:headEnd len="med" w="med" type="stealth"/>
                  <a:tailEnd len="med" w="med" type="stealth"/>
                </a:ln>
              </p:spPr>
            </p:cxnSp>
            <p:cxnSp>
              <p:nvCxnSpPr>
                <p:cNvPr id="86" name="Google Shape;86;g39a876354f6_6_11"/>
                <p:cNvCxnSpPr>
                  <a:stCxn id="80" idx="1"/>
                  <a:endCxn id="83" idx="1"/>
                </p:cNvCxnSpPr>
                <p:nvPr/>
              </p:nvCxnSpPr>
              <p:spPr>
                <a:xfrm>
                  <a:off x="5400767" y="2118837"/>
                  <a:ext cx="579600" cy="810000"/>
                </a:xfrm>
                <a:prstGeom prst="curvedConnector3">
                  <a:avLst>
                    <a:gd fmla="val -36801" name="adj1"/>
                  </a:avLst>
                </a:prstGeom>
                <a:noFill/>
                <a:ln cap="flat" cmpd="sng" w="14275">
                  <a:solidFill>
                    <a:srgbClr val="595959"/>
                  </a:solidFill>
                  <a:prstDash val="solid"/>
                  <a:round/>
                  <a:headEnd len="med" w="med" type="stealth"/>
                  <a:tailEnd len="med" w="med" type="stealth"/>
                </a:ln>
              </p:spPr>
            </p:cxnSp>
            <p:sp>
              <p:nvSpPr>
                <p:cNvPr id="87" name="Google Shape;87;g39a876354f6_6_11"/>
                <p:cNvSpPr txBox="1"/>
                <p:nvPr/>
              </p:nvSpPr>
              <p:spPr>
                <a:xfrm>
                  <a:off x="6403740" y="1796200"/>
                  <a:ext cx="7104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i="1" lang="en-US" sz="600">
                      <a:solidFill>
                        <a:srgbClr val="595959"/>
                      </a:solidFill>
                      <a:latin typeface="Geist"/>
                      <a:ea typeface="Geist"/>
                      <a:cs typeface="Geist"/>
                      <a:sym typeface="Geist"/>
                    </a:rPr>
                    <a:t>Composer</a:t>
                  </a:r>
                  <a:endParaRPr i="1" sz="600">
                    <a:solidFill>
                      <a:srgbClr val="595959"/>
                    </a:solidFill>
                    <a:latin typeface="Geist"/>
                    <a:ea typeface="Geist"/>
                    <a:cs typeface="Geist"/>
                    <a:sym typeface="Geist"/>
                  </a:endParaRPr>
                </a:p>
              </p:txBody>
            </p:sp>
            <p:sp>
              <p:nvSpPr>
                <p:cNvPr id="88" name="Google Shape;88;g39a876354f6_6_11"/>
                <p:cNvSpPr txBox="1"/>
                <p:nvPr/>
              </p:nvSpPr>
              <p:spPr>
                <a:xfrm>
                  <a:off x="5204400" y="1796200"/>
                  <a:ext cx="9150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i="1" lang="en-US" sz="600">
                      <a:solidFill>
                        <a:srgbClr val="595959"/>
                      </a:solidFill>
                      <a:latin typeface="Geist"/>
                      <a:ea typeface="Geist"/>
                      <a:cs typeface="Geist"/>
                      <a:sym typeface="Geist"/>
                    </a:rPr>
                    <a:t>IoT/FMSR/TSFM/WO/Vibration</a:t>
                  </a:r>
                  <a:endParaRPr i="1" sz="600">
                    <a:solidFill>
                      <a:srgbClr val="595959"/>
                    </a:solidFill>
                    <a:latin typeface="Geist"/>
                    <a:ea typeface="Geist"/>
                    <a:cs typeface="Geist"/>
                    <a:sym typeface="Geist"/>
                  </a:endParaRPr>
                </a:p>
              </p:txBody>
            </p:sp>
            <p:cxnSp>
              <p:nvCxnSpPr>
                <p:cNvPr id="89" name="Google Shape;89;g39a876354f6_6_11"/>
                <p:cNvCxnSpPr>
                  <a:stCxn id="80" idx="3"/>
                  <a:endCxn id="76" idx="1"/>
                </p:cNvCxnSpPr>
                <p:nvPr/>
              </p:nvCxnSpPr>
              <p:spPr>
                <a:xfrm>
                  <a:off x="5774294" y="2118837"/>
                  <a:ext cx="645300" cy="1200"/>
                </a:xfrm>
                <a:prstGeom prst="straightConnector1">
                  <a:avLst/>
                </a:prstGeom>
                <a:noFill/>
                <a:ln cap="flat" cmpd="sng" w="14275">
                  <a:solidFill>
                    <a:srgbClr val="595959"/>
                  </a:solidFill>
                  <a:prstDash val="solid"/>
                  <a:round/>
                  <a:headEnd len="med" w="med" type="none"/>
                  <a:tailEnd len="med" w="med" type="stealth"/>
                </a:ln>
              </p:spPr>
            </p:cxnSp>
            <p:grpSp>
              <p:nvGrpSpPr>
                <p:cNvPr id="90" name="Google Shape;90;g39a876354f6_6_11"/>
                <p:cNvGrpSpPr/>
                <p:nvPr/>
              </p:nvGrpSpPr>
              <p:grpSpPr>
                <a:xfrm>
                  <a:off x="7434265" y="2242725"/>
                  <a:ext cx="710307" cy="563362"/>
                  <a:chOff x="6920879" y="2232488"/>
                  <a:chExt cx="780900" cy="563362"/>
                </a:xfrm>
              </p:grpSpPr>
              <p:grpSp>
                <p:nvGrpSpPr>
                  <p:cNvPr id="91" name="Google Shape;91;g39a876354f6_6_11"/>
                  <p:cNvGrpSpPr/>
                  <p:nvPr/>
                </p:nvGrpSpPr>
                <p:grpSpPr>
                  <a:xfrm>
                    <a:off x="6966600" y="2232488"/>
                    <a:ext cx="689450" cy="446075"/>
                    <a:chOff x="6308600" y="1642525"/>
                    <a:chExt cx="689450" cy="446075"/>
                  </a:xfrm>
                </p:grpSpPr>
                <p:pic>
                  <p:nvPicPr>
                    <p:cNvPr id="92" name="Google Shape;92;g39a876354f6_6_11"/>
                    <p:cNvPicPr preferRelativeResize="0"/>
                    <p:nvPr/>
                  </p:nvPicPr>
                  <p:blipFill>
                    <a:blip r:embed="rId9">
                      <a:alphaModFix/>
                    </a:blip>
                    <a:stretch>
                      <a:fillRect/>
                    </a:stretch>
                  </p:blipFill>
                  <p:spPr>
                    <a:xfrm>
                      <a:off x="6447350" y="1642525"/>
                      <a:ext cx="410650" cy="410650"/>
                    </a:xfrm>
                    <a:prstGeom prst="rect">
                      <a:avLst/>
                    </a:prstGeom>
                    <a:noFill/>
                    <a:ln>
                      <a:noFill/>
                    </a:ln>
                  </p:spPr>
                </p:pic>
                <p:pic>
                  <p:nvPicPr>
                    <p:cNvPr id="93" name="Google Shape;93;g39a876354f6_6_11"/>
                    <p:cNvPicPr preferRelativeResize="0"/>
                    <p:nvPr/>
                  </p:nvPicPr>
                  <p:blipFill>
                    <a:blip r:embed="rId9">
                      <a:alphaModFix/>
                    </a:blip>
                    <a:stretch>
                      <a:fillRect/>
                    </a:stretch>
                  </p:blipFill>
                  <p:spPr>
                    <a:xfrm>
                      <a:off x="6308600" y="1677950"/>
                      <a:ext cx="410650" cy="410650"/>
                    </a:xfrm>
                    <a:prstGeom prst="rect">
                      <a:avLst/>
                    </a:prstGeom>
                    <a:noFill/>
                    <a:ln>
                      <a:noFill/>
                    </a:ln>
                  </p:spPr>
                </p:pic>
                <p:pic>
                  <p:nvPicPr>
                    <p:cNvPr id="94" name="Google Shape;94;g39a876354f6_6_11"/>
                    <p:cNvPicPr preferRelativeResize="0"/>
                    <p:nvPr/>
                  </p:nvPicPr>
                  <p:blipFill>
                    <a:blip r:embed="rId9">
                      <a:alphaModFix/>
                    </a:blip>
                    <a:stretch>
                      <a:fillRect/>
                    </a:stretch>
                  </p:blipFill>
                  <p:spPr>
                    <a:xfrm>
                      <a:off x="6587400" y="1677950"/>
                      <a:ext cx="410650" cy="410650"/>
                    </a:xfrm>
                    <a:prstGeom prst="rect">
                      <a:avLst/>
                    </a:prstGeom>
                    <a:noFill/>
                    <a:ln>
                      <a:noFill/>
                    </a:ln>
                  </p:spPr>
                </p:pic>
              </p:grpSp>
              <p:sp>
                <p:nvSpPr>
                  <p:cNvPr id="95" name="Google Shape;95;g39a876354f6_6_11"/>
                  <p:cNvSpPr txBox="1"/>
                  <p:nvPr/>
                </p:nvSpPr>
                <p:spPr>
                  <a:xfrm>
                    <a:off x="6920879" y="2678550"/>
                    <a:ext cx="7809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Negative Generation</a:t>
                    </a:r>
                    <a:endParaRPr sz="600">
                      <a:solidFill>
                        <a:srgbClr val="595959"/>
                      </a:solidFill>
                      <a:latin typeface="Geist"/>
                      <a:ea typeface="Geist"/>
                      <a:cs typeface="Geist"/>
                      <a:sym typeface="Geist"/>
                    </a:endParaRPr>
                  </a:p>
                </p:txBody>
              </p:sp>
            </p:grpSp>
            <p:cxnSp>
              <p:nvCxnSpPr>
                <p:cNvPr id="96" name="Google Shape;96;g39a876354f6_6_11"/>
                <p:cNvCxnSpPr>
                  <a:stCxn id="77" idx="3"/>
                  <a:endCxn id="93" idx="1"/>
                </p:cNvCxnSpPr>
                <p:nvPr/>
              </p:nvCxnSpPr>
              <p:spPr>
                <a:xfrm>
                  <a:off x="7046801" y="2120162"/>
                  <a:ext cx="429000" cy="363300"/>
                </a:xfrm>
                <a:prstGeom prst="straightConnector1">
                  <a:avLst/>
                </a:prstGeom>
                <a:noFill/>
                <a:ln cap="flat" cmpd="sng" w="14275">
                  <a:solidFill>
                    <a:srgbClr val="595959"/>
                  </a:solidFill>
                  <a:prstDash val="solid"/>
                  <a:round/>
                  <a:headEnd len="med" w="med" type="none"/>
                  <a:tailEnd len="med" w="med" type="stealth"/>
                </a:ln>
              </p:spPr>
            </p:cxnSp>
          </p:grpSp>
          <p:sp>
            <p:nvSpPr>
              <p:cNvPr id="97" name="Google Shape;97;g39a876354f6_6_11"/>
              <p:cNvSpPr txBox="1"/>
              <p:nvPr/>
            </p:nvSpPr>
            <p:spPr>
              <a:xfrm>
                <a:off x="7458415" y="2145475"/>
                <a:ext cx="7104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i="1" lang="en-US" sz="600">
                    <a:solidFill>
                      <a:srgbClr val="595959"/>
                    </a:solidFill>
                    <a:latin typeface="Geist"/>
                    <a:ea typeface="Geist"/>
                    <a:cs typeface="Geist"/>
                    <a:sym typeface="Geist"/>
                  </a:rPr>
                  <a:t>(Optional)</a:t>
                </a:r>
                <a:endParaRPr i="1" sz="600">
                  <a:solidFill>
                    <a:srgbClr val="595959"/>
                  </a:solidFill>
                  <a:latin typeface="Geist"/>
                  <a:ea typeface="Geist"/>
                  <a:cs typeface="Geist"/>
                  <a:sym typeface="Geist"/>
                </a:endParaRPr>
              </a:p>
            </p:txBody>
          </p:sp>
        </p:grpSp>
        <p:sp>
          <p:nvSpPr>
            <p:cNvPr id="98" name="Google Shape;98;g39a876354f6_6_11"/>
            <p:cNvSpPr txBox="1"/>
            <p:nvPr/>
          </p:nvSpPr>
          <p:spPr>
            <a:xfrm>
              <a:off x="1165750" y="1436625"/>
              <a:ext cx="972300" cy="2289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1500">
                  <a:solidFill>
                    <a:srgbClr val="000000"/>
                  </a:solidFill>
                  <a:latin typeface="Geist"/>
                  <a:ea typeface="Geist"/>
                  <a:cs typeface="Geist"/>
                  <a:sym typeface="Geist"/>
                </a:rPr>
                <a:t>(1) Profile</a:t>
              </a:r>
              <a:endParaRPr sz="1500">
                <a:solidFill>
                  <a:srgbClr val="000000"/>
                </a:solidFill>
                <a:latin typeface="Geist"/>
                <a:ea typeface="Geist"/>
                <a:cs typeface="Geist"/>
                <a:sym typeface="Geist"/>
              </a:endParaRPr>
            </a:p>
          </p:txBody>
        </p:sp>
        <p:sp>
          <p:nvSpPr>
            <p:cNvPr id="99" name="Google Shape;99;g39a876354f6_6_11"/>
            <p:cNvSpPr txBox="1"/>
            <p:nvPr/>
          </p:nvSpPr>
          <p:spPr>
            <a:xfrm>
              <a:off x="2889150" y="1483200"/>
              <a:ext cx="972300" cy="2289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1500">
                  <a:solidFill>
                    <a:srgbClr val="000000"/>
                  </a:solidFill>
                  <a:latin typeface="Geist"/>
                  <a:ea typeface="Geist"/>
                  <a:cs typeface="Geist"/>
                  <a:sym typeface="Geist"/>
                </a:rPr>
                <a:t>(2) Budget</a:t>
              </a:r>
              <a:endParaRPr sz="1500">
                <a:solidFill>
                  <a:srgbClr val="000000"/>
                </a:solidFill>
                <a:latin typeface="Geist"/>
                <a:ea typeface="Geist"/>
                <a:cs typeface="Geist"/>
                <a:sym typeface="Geist"/>
              </a:endParaRPr>
            </a:p>
          </p:txBody>
        </p:sp>
        <p:sp>
          <p:nvSpPr>
            <p:cNvPr id="100" name="Google Shape;100;g39a876354f6_6_11"/>
            <p:cNvSpPr txBox="1"/>
            <p:nvPr/>
          </p:nvSpPr>
          <p:spPr>
            <a:xfrm>
              <a:off x="5259250" y="1436625"/>
              <a:ext cx="972300" cy="2289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1500">
                  <a:solidFill>
                    <a:srgbClr val="000000"/>
                  </a:solidFill>
                  <a:latin typeface="Geist"/>
                  <a:ea typeface="Geist"/>
                  <a:cs typeface="Geist"/>
                  <a:sym typeface="Geist"/>
                </a:rPr>
                <a:t>(3) Generate</a:t>
              </a:r>
              <a:endParaRPr sz="1500">
                <a:solidFill>
                  <a:srgbClr val="000000"/>
                </a:solidFill>
                <a:latin typeface="Geist"/>
                <a:ea typeface="Geist"/>
                <a:cs typeface="Geist"/>
                <a:sym typeface="Geist"/>
              </a:endParaRPr>
            </a:p>
          </p:txBody>
        </p:sp>
        <p:grpSp>
          <p:nvGrpSpPr>
            <p:cNvPr id="101" name="Google Shape;101;g39a876354f6_6_11"/>
            <p:cNvGrpSpPr/>
            <p:nvPr/>
          </p:nvGrpSpPr>
          <p:grpSpPr>
            <a:xfrm>
              <a:off x="7795647" y="2226874"/>
              <a:ext cx="481203" cy="577500"/>
              <a:chOff x="7800272" y="2289812"/>
              <a:chExt cx="481203" cy="577500"/>
            </a:xfrm>
          </p:grpSpPr>
          <p:pic>
            <p:nvPicPr>
              <p:cNvPr id="102" name="Google Shape;102;g39a876354f6_6_11"/>
              <p:cNvPicPr preferRelativeResize="0"/>
              <p:nvPr/>
            </p:nvPicPr>
            <p:blipFill>
              <a:blip r:embed="rId11">
                <a:alphaModFix/>
              </a:blip>
              <a:stretch>
                <a:fillRect/>
              </a:stretch>
            </p:blipFill>
            <p:spPr>
              <a:xfrm>
                <a:off x="7901425" y="2406343"/>
                <a:ext cx="342900" cy="342900"/>
              </a:xfrm>
              <a:prstGeom prst="rect">
                <a:avLst/>
              </a:prstGeom>
              <a:noFill/>
              <a:ln>
                <a:noFill/>
              </a:ln>
            </p:spPr>
          </p:pic>
          <p:sp>
            <p:nvSpPr>
              <p:cNvPr id="103" name="Google Shape;103;g39a876354f6_6_11"/>
              <p:cNvSpPr txBox="1"/>
              <p:nvPr/>
            </p:nvSpPr>
            <p:spPr>
              <a:xfrm>
                <a:off x="7800275" y="2750012"/>
                <a:ext cx="4812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Scenarios</a:t>
                </a:r>
                <a:endParaRPr sz="600">
                  <a:solidFill>
                    <a:srgbClr val="595959"/>
                  </a:solidFill>
                  <a:latin typeface="Geist"/>
                  <a:ea typeface="Geist"/>
                  <a:cs typeface="Geist"/>
                  <a:sym typeface="Geist"/>
                </a:endParaRPr>
              </a:p>
            </p:txBody>
          </p:sp>
          <p:sp>
            <p:nvSpPr>
              <p:cNvPr id="104" name="Google Shape;104;g39a876354f6_6_11"/>
              <p:cNvSpPr txBox="1"/>
              <p:nvPr/>
            </p:nvSpPr>
            <p:spPr>
              <a:xfrm>
                <a:off x="7800272" y="2289812"/>
                <a:ext cx="4812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i="1" lang="en-US" sz="600">
                    <a:solidFill>
                      <a:srgbClr val="595959"/>
                    </a:solidFill>
                    <a:latin typeface="Geist"/>
                    <a:ea typeface="Geist"/>
                    <a:cs typeface="Geist"/>
                    <a:sym typeface="Geist"/>
                  </a:rPr>
                  <a:t>(+ negative)</a:t>
                </a:r>
                <a:endParaRPr i="1" sz="600">
                  <a:solidFill>
                    <a:srgbClr val="595959"/>
                  </a:solidFill>
                  <a:latin typeface="Geist"/>
                  <a:ea typeface="Geist"/>
                  <a:cs typeface="Geist"/>
                  <a:sym typeface="Geist"/>
                </a:endParaRPr>
              </a:p>
            </p:txBody>
          </p:sp>
        </p:grpSp>
        <p:cxnSp>
          <p:nvCxnSpPr>
            <p:cNvPr id="105" name="Google Shape;105;g39a876354f6_6_11"/>
            <p:cNvCxnSpPr>
              <a:stCxn id="69" idx="3"/>
              <a:endCxn id="102" idx="1"/>
            </p:cNvCxnSpPr>
            <p:nvPr/>
          </p:nvCxnSpPr>
          <p:spPr>
            <a:xfrm>
              <a:off x="7388800" y="2513550"/>
              <a:ext cx="507900" cy="1200"/>
            </a:xfrm>
            <a:prstGeom prst="straightConnector1">
              <a:avLst/>
            </a:prstGeom>
            <a:noFill/>
            <a:ln cap="flat" cmpd="sng" w="14275">
              <a:solidFill>
                <a:srgbClr val="595959"/>
              </a:solidFill>
              <a:prstDash val="solid"/>
              <a:round/>
              <a:headEnd len="med" w="med" type="none"/>
              <a:tailEnd len="med" w="med" type="triangle"/>
            </a:ln>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3"/>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Technical Approach </a:t>
            </a:r>
            <a:r>
              <a:rPr b="1" lang="en-US" sz="3200">
                <a:solidFill>
                  <a:srgbClr val="1A1A1A"/>
                </a:solidFill>
                <a:latin typeface="Calibri"/>
                <a:ea typeface="Calibri"/>
                <a:cs typeface="Calibri"/>
                <a:sym typeface="Calibri"/>
              </a:rPr>
              <a:t>-</a:t>
            </a:r>
            <a:r>
              <a:rPr b="1" i="0" lang="en-US" sz="3200" u="none" cap="none" strike="noStrike">
                <a:solidFill>
                  <a:srgbClr val="1A1A1A"/>
                </a:solidFill>
                <a:latin typeface="Calibri"/>
                <a:ea typeface="Calibri"/>
                <a:cs typeface="Calibri"/>
                <a:sym typeface="Calibri"/>
              </a:rPr>
              <a:t> Model &amp; Data</a:t>
            </a:r>
            <a:endParaRPr b="0" i="0" sz="3200" u="none" cap="none" strike="noStrike">
              <a:solidFill>
                <a:schemeClr val="dk1"/>
              </a:solidFill>
              <a:latin typeface="Calibri"/>
              <a:ea typeface="Calibri"/>
              <a:cs typeface="Calibri"/>
              <a:sym typeface="Calibri"/>
            </a:endParaRPr>
          </a:p>
        </p:txBody>
      </p:sp>
      <p:cxnSp>
        <p:nvCxnSpPr>
          <p:cNvPr id="112" name="Google Shape;112;p3"/>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13" name="Google Shape;113;p3"/>
          <p:cNvSpPr/>
          <p:nvPr/>
        </p:nvSpPr>
        <p:spPr>
          <a:xfrm>
            <a:off x="4451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673688" y="1678230"/>
            <a:ext cx="312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Model</a:t>
            </a:r>
            <a:endParaRPr b="0" i="0" sz="1600" u="none" cap="none" strike="noStrike">
              <a:solidFill>
                <a:schemeClr val="dk1"/>
              </a:solidFill>
              <a:latin typeface="Calibri"/>
              <a:ea typeface="Calibri"/>
              <a:cs typeface="Calibri"/>
              <a:sym typeface="Calibri"/>
            </a:endParaRPr>
          </a:p>
        </p:txBody>
      </p:sp>
      <p:sp>
        <p:nvSpPr>
          <p:cNvPr id="115" name="Google Shape;115;p3"/>
          <p:cNvSpPr/>
          <p:nvPr/>
        </p:nvSpPr>
        <p:spPr>
          <a:xfrm>
            <a:off x="673700" y="2043925"/>
            <a:ext cx="3127200" cy="3881400"/>
          </a:xfrm>
          <a:prstGeom prst="rect">
            <a:avLst/>
          </a:prstGeom>
          <a:noFill/>
          <a:ln>
            <a:noFill/>
          </a:ln>
        </p:spPr>
        <p:txBody>
          <a:bodyPr anchorCtr="0" anchor="t" bIns="0" lIns="0" spcFirstLastPara="1" rIns="0" wrap="square" tIns="0">
            <a:noAutofit/>
          </a:bodyPr>
          <a:lstStyle/>
          <a:p>
            <a:pPr indent="-323850" lvl="0" marL="457200" rtl="0" algn="l">
              <a:spcBef>
                <a:spcPts val="0"/>
              </a:spcBef>
              <a:spcAft>
                <a:spcPts val="0"/>
              </a:spcAft>
              <a:buClr>
                <a:schemeClr val="dk1"/>
              </a:buClr>
              <a:buSzPts val="1500"/>
              <a:buFont typeface="Calibri"/>
              <a:buChar char="●"/>
            </a:pPr>
            <a:r>
              <a:rPr b="1" lang="en-US" sz="1500">
                <a:solidFill>
                  <a:schemeClr val="dk1"/>
                </a:solidFill>
                <a:latin typeface="Calibri"/>
                <a:ea typeface="Calibri"/>
                <a:cs typeface="Calibri"/>
                <a:sym typeface="Calibri"/>
              </a:rPr>
              <a:t>watsonx/meta-llama/llama-3-3-70b-instruct (IBM WatsonX) </a:t>
            </a:r>
            <a:r>
              <a:rPr lang="en-US" sz="1500">
                <a:solidFill>
                  <a:schemeClr val="dk1"/>
                </a:solidFill>
                <a:latin typeface="Calibri"/>
                <a:ea typeface="Calibri"/>
                <a:cs typeface="Calibri"/>
                <a:sym typeface="Calibri"/>
              </a:rPr>
              <a:t>is the model used.</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b="1" lang="en-US" sz="1500">
                <a:solidFill>
                  <a:schemeClr val="dk1"/>
                </a:solidFill>
                <a:latin typeface="Calibri"/>
                <a:ea typeface="Calibri"/>
                <a:cs typeface="Calibri"/>
                <a:sym typeface="Calibri"/>
              </a:rPr>
              <a:t>This is used as the LLM backbone in the ScenarioGeneratorAgent pipeline:</a:t>
            </a:r>
            <a:r>
              <a:rPr lang="en-US" sz="1500">
                <a:solidFill>
                  <a:schemeClr val="dk1"/>
                </a:solidFill>
                <a:latin typeface="Calibri"/>
                <a:ea typeface="Calibri"/>
                <a:cs typeface="Calibri"/>
                <a:sym typeface="Calibri"/>
              </a:rPr>
              <a:t> five stages: asset profiling, budgeted allocation, domain generation, validation, and repair</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b="1" lang="en-US" sz="1500">
                <a:solidFill>
                  <a:schemeClr val="dk1"/>
                </a:solidFill>
                <a:latin typeface="Calibri"/>
                <a:ea typeface="Calibri"/>
                <a:cs typeface="Calibri"/>
                <a:sym typeface="Calibri"/>
              </a:rPr>
              <a:t>This also serves as the LLM backbone for the transformer FMSR tools</a:t>
            </a:r>
            <a:r>
              <a:rPr lang="en-US" sz="1500">
                <a:solidFill>
                  <a:schemeClr val="dk1"/>
                </a:solidFill>
                <a:latin typeface="Calibri"/>
                <a:ea typeface="Calibri"/>
                <a:cs typeface="Calibri"/>
                <a:sym typeface="Calibri"/>
              </a:rPr>
              <a:t>: four MCP tools grounded in IEC 60599 and IEC 60076-7; health index prediction, dissolved gas analysis, load profile analysis and winding temperature analysis.</a:t>
            </a:r>
            <a:endParaRPr sz="15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b="1" sz="1500">
              <a:solidFill>
                <a:schemeClr val="dk1"/>
              </a:solidFill>
              <a:latin typeface="Calibri"/>
              <a:ea typeface="Calibri"/>
              <a:cs typeface="Calibri"/>
              <a:sym typeface="Calibri"/>
            </a:endParaRPr>
          </a:p>
        </p:txBody>
      </p:sp>
      <p:sp>
        <p:nvSpPr>
          <p:cNvPr id="116" name="Google Shape;116;p3"/>
          <p:cNvSpPr/>
          <p:nvPr/>
        </p:nvSpPr>
        <p:spPr>
          <a:xfrm>
            <a:off x="43038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4532381" y="1678230"/>
            <a:ext cx="312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Dataset</a:t>
            </a:r>
            <a:endParaRPr b="0" i="0" sz="1600" u="none" cap="none" strike="noStrike">
              <a:solidFill>
                <a:schemeClr val="dk1"/>
              </a:solidFill>
              <a:latin typeface="Calibri"/>
              <a:ea typeface="Calibri"/>
              <a:cs typeface="Calibri"/>
              <a:sym typeface="Calibri"/>
            </a:endParaRPr>
          </a:p>
        </p:txBody>
      </p:sp>
      <p:sp>
        <p:nvSpPr>
          <p:cNvPr id="118" name="Google Shape;118;p3"/>
          <p:cNvSpPr/>
          <p:nvPr/>
        </p:nvSpPr>
        <p:spPr>
          <a:xfrm>
            <a:off x="4532388" y="2043924"/>
            <a:ext cx="3127200" cy="3608400"/>
          </a:xfrm>
          <a:prstGeom prst="rect">
            <a:avLst/>
          </a:prstGeom>
          <a:noFill/>
          <a:ln>
            <a:noFill/>
          </a:ln>
        </p:spPr>
        <p:txBody>
          <a:bodyPr anchorCtr="0" anchor="t" bIns="0" lIns="0" spcFirstLastPara="1" rIns="0" wrap="square" tIns="0">
            <a:noAutofit/>
          </a:bodyPr>
          <a:lstStyle/>
          <a:p>
            <a:pPr indent="-323850" lvl="0" marL="45720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Existing AssetOpsBench scenarios (chillers, AHUs) as few-shot examples for generation scenario.</a:t>
            </a:r>
            <a:endParaRPr sz="1500">
              <a:solidFill>
                <a:srgbClr val="1A1A1A"/>
              </a:solidFill>
              <a:latin typeface="Calibri"/>
              <a:ea typeface="Calibri"/>
              <a:cs typeface="Calibri"/>
              <a:sym typeface="Calibri"/>
            </a:endParaRPr>
          </a:p>
          <a:p>
            <a:pPr indent="-323850" lvl="0" marL="45720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ArXiv/SemanticScholar literature retrieval (domain papers fetched per asset class to build AssetProfiles for scenario generation).</a:t>
            </a:r>
            <a:endParaRPr sz="1500">
              <a:solidFill>
                <a:srgbClr val="1A1A1A"/>
              </a:solidFill>
              <a:latin typeface="Calibri"/>
              <a:ea typeface="Calibri"/>
              <a:cs typeface="Calibri"/>
              <a:sym typeface="Calibri"/>
            </a:endParaRPr>
          </a:p>
          <a:p>
            <a:pPr indent="-323850" lvl="0" marL="45720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Mendeley transformer health dataset (Arias Velasquez &amp; Lara, 2020) for the supporting health index model.</a:t>
            </a:r>
            <a:endParaRPr sz="1500">
              <a:solidFill>
                <a:srgbClr val="1A1A1A"/>
              </a:solidFill>
              <a:latin typeface="Calibri"/>
              <a:ea typeface="Calibri"/>
              <a:cs typeface="Calibri"/>
              <a:sym typeface="Calibri"/>
            </a:endParaRPr>
          </a:p>
          <a:p>
            <a:pPr indent="0" lvl="0" marL="457200" rtl="0" algn="l">
              <a:spcBef>
                <a:spcPts val="0"/>
              </a:spcBef>
              <a:spcAft>
                <a:spcPts val="0"/>
              </a:spcAft>
              <a:buNone/>
            </a:pPr>
            <a:r>
              <a:t/>
            </a:r>
            <a:endParaRPr sz="1500">
              <a:solidFill>
                <a:srgbClr val="1A1A1A"/>
              </a:solidFill>
              <a:latin typeface="Calibri"/>
              <a:ea typeface="Calibri"/>
              <a:cs typeface="Calibri"/>
              <a:sym typeface="Calibri"/>
            </a:endParaRPr>
          </a:p>
        </p:txBody>
      </p:sp>
      <p:sp>
        <p:nvSpPr>
          <p:cNvPr id="119" name="Google Shape;119;p3"/>
          <p:cNvSpPr/>
          <p:nvPr/>
        </p:nvSpPr>
        <p:spPr>
          <a:xfrm>
            <a:off x="81625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8391099" y="1678230"/>
            <a:ext cx="312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Hardware</a:t>
            </a:r>
            <a:endParaRPr b="0" i="0" sz="1600" u="none" cap="none" strike="noStrike">
              <a:solidFill>
                <a:schemeClr val="dk1"/>
              </a:solidFill>
              <a:latin typeface="Calibri"/>
              <a:ea typeface="Calibri"/>
              <a:cs typeface="Calibri"/>
              <a:sym typeface="Calibri"/>
            </a:endParaRPr>
          </a:p>
        </p:txBody>
      </p:sp>
      <p:sp>
        <p:nvSpPr>
          <p:cNvPr id="121" name="Google Shape;121;p3"/>
          <p:cNvSpPr/>
          <p:nvPr/>
        </p:nvSpPr>
        <p:spPr>
          <a:xfrm>
            <a:off x="8391138" y="2043874"/>
            <a:ext cx="3127200" cy="3608400"/>
          </a:xfrm>
          <a:prstGeom prst="rect">
            <a:avLst/>
          </a:prstGeom>
          <a:noFill/>
          <a:ln>
            <a:noFill/>
          </a:ln>
        </p:spPr>
        <p:txBody>
          <a:bodyPr anchorCtr="0" anchor="t" bIns="0" lIns="0" spcFirstLastPara="1" rIns="0" wrap="square" tIns="0">
            <a:noAutofit/>
          </a:bodyPr>
          <a:lstStyle/>
          <a:p>
            <a:pPr indent="-323850" lvl="0" marL="457200" rtl="0" algn="l">
              <a:spcBef>
                <a:spcPts val="0"/>
              </a:spcBef>
              <a:spcAft>
                <a:spcPts val="0"/>
              </a:spcAft>
              <a:buClr>
                <a:schemeClr val="dk1"/>
              </a:buClr>
              <a:buSzPts val="1500"/>
              <a:buFont typeface="Calibri"/>
              <a:buChar char="●"/>
            </a:pPr>
            <a:r>
              <a:rPr b="1" lang="en-US" sz="1500">
                <a:solidFill>
                  <a:schemeClr val="dk1"/>
                </a:solidFill>
                <a:latin typeface="Calibri"/>
                <a:ea typeface="Calibri"/>
                <a:cs typeface="Calibri"/>
                <a:sym typeface="Calibri"/>
              </a:rPr>
              <a:t>Profiling: </a:t>
            </a:r>
            <a:r>
              <a:rPr lang="en-US" sz="1500">
                <a:solidFill>
                  <a:schemeClr val="dk1"/>
                </a:solidFill>
                <a:latin typeface="Calibri"/>
                <a:ea typeface="Calibri"/>
                <a:cs typeface="Calibri"/>
                <a:sym typeface="Calibri"/>
              </a:rPr>
              <a:t>PyTorch Profiler chrome traces and Weights &amp; Biases for all scenario generation and evaluation runs.</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b="1" lang="en-US" sz="1500">
                <a:solidFill>
                  <a:schemeClr val="dk1"/>
                </a:solidFill>
                <a:latin typeface="Calibri"/>
                <a:ea typeface="Calibri"/>
                <a:cs typeface="Calibri"/>
                <a:sym typeface="Calibri"/>
              </a:rPr>
              <a:t>Software stack:</a:t>
            </a:r>
            <a:r>
              <a:rPr lang="en-US" sz="1500">
                <a:solidFill>
                  <a:schemeClr val="dk1"/>
                </a:solidFill>
                <a:latin typeface="Calibri"/>
                <a:ea typeface="Calibri"/>
                <a:cs typeface="Calibri"/>
                <a:sym typeface="Calibri"/>
              </a:rPr>
              <a:t> Python, FastMCP (MCP Servers), asyncio pipeline, CouchDB, Weights &amp; Biases, Pytorch Profiler</a:t>
            </a:r>
            <a:endParaRPr sz="15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22" name="Google Shape;122;p3"/>
          <p:cNvSpPr/>
          <p:nvPr/>
        </p:nvSpPr>
        <p:spPr>
          <a:xfrm>
            <a:off x="445138" y="64727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23" name="Google Shape;123;p3"/>
          <p:cNvSpPr/>
          <p:nvPr/>
        </p:nvSpPr>
        <p:spPr>
          <a:xfrm>
            <a:off x="6245339" y="64727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3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4"/>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Technical Approach — Optimizations Applied</a:t>
            </a:r>
            <a:endParaRPr b="0" i="0" sz="3200" u="none" cap="none" strike="noStrike">
              <a:solidFill>
                <a:schemeClr val="dk1"/>
              </a:solidFill>
              <a:latin typeface="Calibri"/>
              <a:ea typeface="Calibri"/>
              <a:cs typeface="Calibri"/>
              <a:sym typeface="Calibri"/>
            </a:endParaRPr>
          </a:p>
        </p:txBody>
      </p:sp>
      <p:cxnSp>
        <p:nvCxnSpPr>
          <p:cNvPr id="130" name="Google Shape;130;p4"/>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31" name="Google Shape;131;p4"/>
          <p:cNvSpPr/>
          <p:nvPr/>
        </p:nvSpPr>
        <p:spPr>
          <a:xfrm>
            <a:off x="457200" y="187452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1.</a:t>
            </a:r>
            <a:endParaRPr b="0" i="0" sz="2200" u="none" cap="none" strike="noStrike">
              <a:solidFill>
                <a:schemeClr val="dk1"/>
              </a:solidFill>
              <a:latin typeface="Calibri"/>
              <a:ea typeface="Calibri"/>
              <a:cs typeface="Calibri"/>
              <a:sym typeface="Calibri"/>
            </a:endParaRPr>
          </a:p>
        </p:txBody>
      </p:sp>
      <p:sp>
        <p:nvSpPr>
          <p:cNvPr id="132" name="Google Shape;132;p4"/>
          <p:cNvSpPr/>
          <p:nvPr/>
        </p:nvSpPr>
        <p:spPr>
          <a:xfrm>
            <a:off x="960120" y="1874520"/>
            <a:ext cx="1069848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chemeClr val="dk1"/>
                </a:solidFill>
                <a:latin typeface="Calibri"/>
                <a:ea typeface="Calibri"/>
                <a:cs typeface="Calibri"/>
                <a:sym typeface="Calibri"/>
              </a:rPr>
              <a:t>Caching</a:t>
            </a:r>
            <a:endParaRPr b="0" i="0" sz="2000" u="none" cap="none" strike="noStrike">
              <a:solidFill>
                <a:schemeClr val="dk1"/>
              </a:solidFill>
              <a:latin typeface="Calibri"/>
              <a:ea typeface="Calibri"/>
              <a:cs typeface="Calibri"/>
              <a:sym typeface="Calibri"/>
            </a:endParaRPr>
          </a:p>
        </p:txBody>
      </p:sp>
      <p:sp>
        <p:nvSpPr>
          <p:cNvPr id="133" name="Google Shape;133;p4"/>
          <p:cNvSpPr/>
          <p:nvPr/>
        </p:nvSpPr>
        <p:spPr>
          <a:xfrm>
            <a:off x="960120" y="2377440"/>
            <a:ext cx="1069848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solidFill>
                  <a:srgbClr val="6B6F76"/>
                </a:solidFill>
                <a:latin typeface="Calibri"/>
                <a:ea typeface="Calibri"/>
                <a:cs typeface="Calibri"/>
                <a:sym typeface="Calibri"/>
              </a:rPr>
              <a:t>Asset profiles, research papers, and few-shot examples are cached at two levels: fast in-memory LRU and persistent disk storage. This avoids re-running expensive LLM calls and academic retrieval for the same asset across repeated runs.</a:t>
            </a:r>
            <a:endParaRPr>
              <a:solidFill>
                <a:srgbClr val="6B6F76"/>
              </a:solidFill>
              <a:latin typeface="Calibri"/>
              <a:ea typeface="Calibri"/>
              <a:cs typeface="Calibri"/>
              <a:sym typeface="Calibri"/>
            </a:endParaRPr>
          </a:p>
          <a:p>
            <a:pPr indent="0" lvl="0" marL="0" marR="0" rtl="0" algn="l">
              <a:spcBef>
                <a:spcPts val="0"/>
              </a:spcBef>
              <a:spcAft>
                <a:spcPts val="0"/>
              </a:spcAft>
              <a:buClr>
                <a:srgbClr val="6B6F76"/>
              </a:buClr>
              <a:buSzPts val="1400"/>
              <a:buFont typeface="Calibri"/>
              <a:buNone/>
            </a:pPr>
            <a:r>
              <a:t/>
            </a:r>
            <a:endParaRPr>
              <a:solidFill>
                <a:srgbClr val="6B6F76"/>
              </a:solidFill>
              <a:latin typeface="Calibri"/>
              <a:ea typeface="Calibri"/>
              <a:cs typeface="Calibri"/>
              <a:sym typeface="Calibri"/>
            </a:endParaRPr>
          </a:p>
        </p:txBody>
      </p:sp>
      <p:sp>
        <p:nvSpPr>
          <p:cNvPr id="134" name="Google Shape;134;p4"/>
          <p:cNvSpPr/>
          <p:nvPr/>
        </p:nvSpPr>
        <p:spPr>
          <a:xfrm>
            <a:off x="457200" y="329184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2.</a:t>
            </a:r>
            <a:endParaRPr b="0" i="0" sz="2200" u="none" cap="none" strike="noStrike">
              <a:solidFill>
                <a:schemeClr val="dk1"/>
              </a:solidFill>
              <a:latin typeface="Calibri"/>
              <a:ea typeface="Calibri"/>
              <a:cs typeface="Calibri"/>
              <a:sym typeface="Calibri"/>
            </a:endParaRPr>
          </a:p>
        </p:txBody>
      </p:sp>
      <p:sp>
        <p:nvSpPr>
          <p:cNvPr id="135" name="Google Shape;135;p4"/>
          <p:cNvSpPr/>
          <p:nvPr/>
        </p:nvSpPr>
        <p:spPr>
          <a:xfrm>
            <a:off x="960120" y="3291840"/>
            <a:ext cx="10698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chemeClr val="dk1"/>
                </a:solidFill>
                <a:latin typeface="Calibri"/>
                <a:ea typeface="Calibri"/>
                <a:cs typeface="Calibri"/>
                <a:sym typeface="Calibri"/>
              </a:rPr>
              <a:t>Parallel Per-Domain Scenario Generation</a:t>
            </a:r>
            <a:endParaRPr b="0" i="0" sz="2000" u="none" cap="none" strike="noStrike">
              <a:solidFill>
                <a:schemeClr val="dk1"/>
              </a:solidFill>
              <a:latin typeface="Calibri"/>
              <a:ea typeface="Calibri"/>
              <a:cs typeface="Calibri"/>
              <a:sym typeface="Calibri"/>
            </a:endParaRPr>
          </a:p>
        </p:txBody>
      </p:sp>
      <p:sp>
        <p:nvSpPr>
          <p:cNvPr id="136" name="Google Shape;136;p4"/>
          <p:cNvSpPr/>
          <p:nvPr/>
        </p:nvSpPr>
        <p:spPr>
          <a:xfrm>
            <a:off x="960120" y="3794760"/>
            <a:ext cx="1069848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solidFill>
                  <a:srgbClr val="6B6F76"/>
                </a:solidFill>
                <a:latin typeface="Calibri"/>
                <a:ea typeface="Calibri"/>
                <a:cs typeface="Calibri"/>
                <a:sym typeface="Calibri"/>
              </a:rPr>
              <a:t>Scenario generation across different domains (IoT, FMSR, Work Order, etc.) runs in parallel rather than sequentially.</a:t>
            </a:r>
            <a:endParaRPr b="0" i="0" sz="1400" u="none" cap="none" strike="noStrike">
              <a:solidFill>
                <a:srgbClr val="6B6F76"/>
              </a:solidFill>
              <a:latin typeface="Calibri"/>
              <a:ea typeface="Calibri"/>
              <a:cs typeface="Calibri"/>
              <a:sym typeface="Calibri"/>
            </a:endParaRPr>
          </a:p>
        </p:txBody>
      </p:sp>
      <p:sp>
        <p:nvSpPr>
          <p:cNvPr id="137" name="Google Shape;137;p4"/>
          <p:cNvSpPr/>
          <p:nvPr/>
        </p:nvSpPr>
        <p:spPr>
          <a:xfrm>
            <a:off x="457200" y="470916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3.</a:t>
            </a:r>
            <a:endParaRPr b="0" i="0" sz="2200" u="none" cap="none" strike="noStrike">
              <a:solidFill>
                <a:schemeClr val="dk1"/>
              </a:solidFill>
              <a:latin typeface="Calibri"/>
              <a:ea typeface="Calibri"/>
              <a:cs typeface="Calibri"/>
              <a:sym typeface="Calibri"/>
            </a:endParaRPr>
          </a:p>
        </p:txBody>
      </p:sp>
      <p:sp>
        <p:nvSpPr>
          <p:cNvPr id="138" name="Google Shape;138;p4"/>
          <p:cNvSpPr/>
          <p:nvPr/>
        </p:nvSpPr>
        <p:spPr>
          <a:xfrm>
            <a:off x="960120" y="4709160"/>
            <a:ext cx="10698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rgbClr val="1A1A1A"/>
                </a:solidFill>
                <a:latin typeface="Calibri"/>
                <a:ea typeface="Calibri"/>
                <a:cs typeface="Calibri"/>
                <a:sym typeface="Calibri"/>
              </a:rPr>
              <a:t>T</a:t>
            </a:r>
            <a:r>
              <a:rPr b="1" lang="en-US" sz="2000">
                <a:solidFill>
                  <a:schemeClr val="dk1"/>
                </a:solidFill>
                <a:latin typeface="Calibri"/>
                <a:ea typeface="Calibri"/>
                <a:cs typeface="Calibri"/>
                <a:sym typeface="Calibri"/>
              </a:rPr>
              <a:t>hread Pool Offloading</a:t>
            </a:r>
            <a:endParaRPr b="0" i="0" sz="2000" u="none" cap="none" strike="noStrike">
              <a:solidFill>
                <a:schemeClr val="dk1"/>
              </a:solidFill>
              <a:latin typeface="Calibri"/>
              <a:ea typeface="Calibri"/>
              <a:cs typeface="Calibri"/>
              <a:sym typeface="Calibri"/>
            </a:endParaRPr>
          </a:p>
        </p:txBody>
      </p:sp>
      <p:sp>
        <p:nvSpPr>
          <p:cNvPr id="139" name="Google Shape;139;p4"/>
          <p:cNvSpPr/>
          <p:nvPr/>
        </p:nvSpPr>
        <p:spPr>
          <a:xfrm>
            <a:off x="960120" y="5212080"/>
            <a:ext cx="106984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lang="en-US">
                <a:solidFill>
                  <a:srgbClr val="6B6F76"/>
                </a:solidFill>
                <a:latin typeface="Calibri"/>
                <a:ea typeface="Calibri"/>
                <a:cs typeface="Calibri"/>
                <a:sym typeface="Calibri"/>
              </a:rPr>
              <a:t>Blocking LLM HTTP calls are offloaded to a shared thread pool executor, keeping the async event loop free. This ensures multiple pipeline phases can make progress simultaneously without stalling on I/O.</a:t>
            </a:r>
            <a:endParaRPr b="0" i="0" sz="1400" u="none" cap="none" strike="noStrike">
              <a:solidFill>
                <a:schemeClr val="dk1"/>
              </a:solidFill>
              <a:latin typeface="Calibri"/>
              <a:ea typeface="Calibri"/>
              <a:cs typeface="Calibri"/>
              <a:sym typeface="Calibri"/>
            </a:endParaRPr>
          </a:p>
        </p:txBody>
      </p:sp>
      <p:sp>
        <p:nvSpPr>
          <p:cNvPr id="140" name="Google Shape;140;p4"/>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41" name="Google Shape;141;p4"/>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4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g39a876354f6_1_1"/>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Technical Approach — Optimizations Applied</a:t>
            </a:r>
            <a:endParaRPr b="0" i="0" sz="3200" u="none" cap="none" strike="noStrike">
              <a:solidFill>
                <a:schemeClr val="dk1"/>
              </a:solidFill>
              <a:latin typeface="Calibri"/>
              <a:ea typeface="Calibri"/>
              <a:cs typeface="Calibri"/>
              <a:sym typeface="Calibri"/>
            </a:endParaRPr>
          </a:p>
        </p:txBody>
      </p:sp>
      <p:cxnSp>
        <p:nvCxnSpPr>
          <p:cNvPr id="148" name="Google Shape;148;g39a876354f6_1_1"/>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149" name="Google Shape;149;g39a876354f6_1_1"/>
          <p:cNvSpPr/>
          <p:nvPr/>
        </p:nvSpPr>
        <p:spPr>
          <a:xfrm>
            <a:off x="457200" y="187452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lang="en-US" sz="2200">
                <a:solidFill>
                  <a:srgbClr val="1A1A1A"/>
                </a:solidFill>
                <a:latin typeface="Calibri"/>
                <a:ea typeface="Calibri"/>
                <a:cs typeface="Calibri"/>
                <a:sym typeface="Calibri"/>
              </a:rPr>
              <a:t>4</a:t>
            </a:r>
            <a:r>
              <a:rPr b="1" i="0" lang="en-US" sz="2200" u="none" cap="none" strike="noStrike">
                <a:solidFill>
                  <a:srgbClr val="1A1A1A"/>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50" name="Google Shape;150;g39a876354f6_1_1"/>
          <p:cNvSpPr/>
          <p:nvPr/>
        </p:nvSpPr>
        <p:spPr>
          <a:xfrm>
            <a:off x="960120" y="1874520"/>
            <a:ext cx="10698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chemeClr val="dk1"/>
                </a:solidFill>
                <a:latin typeface="Calibri"/>
                <a:ea typeface="Calibri"/>
                <a:cs typeface="Calibri"/>
                <a:sym typeface="Calibri"/>
              </a:rPr>
              <a:t>Batch LLM Calls</a:t>
            </a:r>
            <a:endParaRPr b="0" i="0" sz="2000" u="none" cap="none" strike="noStrike">
              <a:solidFill>
                <a:schemeClr val="dk1"/>
              </a:solidFill>
              <a:latin typeface="Calibri"/>
              <a:ea typeface="Calibri"/>
              <a:cs typeface="Calibri"/>
              <a:sym typeface="Calibri"/>
            </a:endParaRPr>
          </a:p>
        </p:txBody>
      </p:sp>
      <p:sp>
        <p:nvSpPr>
          <p:cNvPr id="151" name="Google Shape;151;g39a876354f6_1_1"/>
          <p:cNvSpPr/>
          <p:nvPr/>
        </p:nvSpPr>
        <p:spPr>
          <a:xfrm>
            <a:off x="960120" y="2377440"/>
            <a:ext cx="106986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solidFill>
                  <a:srgbClr val="6B6F76"/>
                </a:solidFill>
                <a:latin typeface="Calibri"/>
                <a:ea typeface="Calibri"/>
                <a:cs typeface="Calibri"/>
                <a:sym typeface="Calibri"/>
              </a:rPr>
              <a:t>Instead of one LLM call per scenario, multiple scenarios are requested in a single prompt. This amortizes the per-call overhead (network, parsing, rate-limiter tokens) across a batch.</a:t>
            </a:r>
            <a:endParaRPr>
              <a:solidFill>
                <a:srgbClr val="6B6F76"/>
              </a:solidFill>
              <a:latin typeface="Calibri"/>
              <a:ea typeface="Calibri"/>
              <a:cs typeface="Calibri"/>
              <a:sym typeface="Calibri"/>
            </a:endParaRPr>
          </a:p>
          <a:p>
            <a:pPr indent="0" lvl="0" marL="0" marR="0" rtl="0" algn="l">
              <a:spcBef>
                <a:spcPts val="0"/>
              </a:spcBef>
              <a:spcAft>
                <a:spcPts val="0"/>
              </a:spcAft>
              <a:buClr>
                <a:srgbClr val="6B6F76"/>
              </a:buClr>
              <a:buSzPts val="1400"/>
              <a:buFont typeface="Calibri"/>
              <a:buNone/>
            </a:pPr>
            <a:r>
              <a:t/>
            </a:r>
            <a:endParaRPr>
              <a:solidFill>
                <a:srgbClr val="6B6F76"/>
              </a:solidFill>
              <a:latin typeface="Calibri"/>
              <a:ea typeface="Calibri"/>
              <a:cs typeface="Calibri"/>
              <a:sym typeface="Calibri"/>
            </a:endParaRPr>
          </a:p>
        </p:txBody>
      </p:sp>
      <p:sp>
        <p:nvSpPr>
          <p:cNvPr id="152" name="Google Shape;152;g39a876354f6_1_1"/>
          <p:cNvSpPr/>
          <p:nvPr/>
        </p:nvSpPr>
        <p:spPr>
          <a:xfrm>
            <a:off x="457200" y="329184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lang="en-US" sz="2200">
                <a:solidFill>
                  <a:srgbClr val="1A1A1A"/>
                </a:solidFill>
                <a:latin typeface="Calibri"/>
                <a:ea typeface="Calibri"/>
                <a:cs typeface="Calibri"/>
                <a:sym typeface="Calibri"/>
              </a:rPr>
              <a:t>5</a:t>
            </a:r>
            <a:r>
              <a:rPr b="1" i="0" lang="en-US" sz="2200" u="none" cap="none" strike="noStrike">
                <a:solidFill>
                  <a:srgbClr val="1A1A1A"/>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53" name="Google Shape;153;g39a876354f6_1_1"/>
          <p:cNvSpPr/>
          <p:nvPr/>
        </p:nvSpPr>
        <p:spPr>
          <a:xfrm>
            <a:off x="960120" y="3291840"/>
            <a:ext cx="10698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chemeClr val="dk1"/>
                </a:solidFill>
                <a:latin typeface="Calibri"/>
                <a:ea typeface="Calibri"/>
                <a:cs typeface="Calibri"/>
                <a:sym typeface="Calibri"/>
              </a:rPr>
              <a:t>Early Rejection Filtering</a:t>
            </a:r>
            <a:endParaRPr b="0" i="0" sz="2000" u="none" cap="none" strike="noStrike">
              <a:solidFill>
                <a:schemeClr val="dk1"/>
              </a:solidFill>
              <a:latin typeface="Calibri"/>
              <a:ea typeface="Calibri"/>
              <a:cs typeface="Calibri"/>
              <a:sym typeface="Calibri"/>
            </a:endParaRPr>
          </a:p>
        </p:txBody>
      </p:sp>
      <p:sp>
        <p:nvSpPr>
          <p:cNvPr id="154" name="Google Shape;154;g39a876354f6_1_1"/>
          <p:cNvSpPr/>
          <p:nvPr/>
        </p:nvSpPr>
        <p:spPr>
          <a:xfrm>
            <a:off x="960120" y="3794760"/>
            <a:ext cx="106986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solidFill>
                  <a:srgbClr val="6B6F76"/>
                </a:solidFill>
                <a:latin typeface="Calibri"/>
                <a:ea typeface="Calibri"/>
                <a:cs typeface="Calibri"/>
                <a:sym typeface="Calibri"/>
              </a:rPr>
              <a:t>A pre-screen eliminates clearly malformed or duplicate scenarios before the full validator runs. This avoids wasting time on structural validation for outputs that fail basic length, field presence, or near-duplicate checks.</a:t>
            </a:r>
            <a:endParaRPr b="0" i="0" sz="1400" u="none" cap="none" strike="noStrike">
              <a:solidFill>
                <a:srgbClr val="6B6F76"/>
              </a:solidFill>
              <a:latin typeface="Calibri"/>
              <a:ea typeface="Calibri"/>
              <a:cs typeface="Calibri"/>
              <a:sym typeface="Calibri"/>
            </a:endParaRPr>
          </a:p>
        </p:txBody>
      </p:sp>
      <p:sp>
        <p:nvSpPr>
          <p:cNvPr id="155" name="Google Shape;155;g39a876354f6_1_1"/>
          <p:cNvSpPr/>
          <p:nvPr/>
        </p:nvSpPr>
        <p:spPr>
          <a:xfrm>
            <a:off x="960120" y="5212080"/>
            <a:ext cx="106986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b="1" i="1" lang="en-US">
                <a:solidFill>
                  <a:schemeClr val="dk1"/>
                </a:solidFill>
                <a:latin typeface="Calibri"/>
                <a:ea typeface="Calibri"/>
                <a:cs typeface="Calibri"/>
                <a:sym typeface="Calibri"/>
              </a:rPr>
              <a:t>Default params used (unless specified):  --max-concurrent 3  --max-workers 4   --cache-ttl 24h  ·  --retriever arxiv</a:t>
            </a:r>
            <a:endParaRPr b="1" i="1" sz="1400" u="none" cap="none" strike="noStrike">
              <a:solidFill>
                <a:schemeClr val="dk1"/>
              </a:solidFill>
              <a:latin typeface="Calibri"/>
              <a:ea typeface="Calibri"/>
              <a:cs typeface="Calibri"/>
              <a:sym typeface="Calibri"/>
            </a:endParaRPr>
          </a:p>
        </p:txBody>
      </p:sp>
      <p:sp>
        <p:nvSpPr>
          <p:cNvPr id="156" name="Google Shape;156;g39a876354f6_1_1"/>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57" name="Google Shape;157;g39a876354f6_1_1"/>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4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5"/>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Profiling Methodology</a:t>
            </a:r>
            <a:endParaRPr b="0" i="0" sz="3200" u="none" cap="none" strike="noStrike">
              <a:solidFill>
                <a:schemeClr val="dk1"/>
              </a:solidFill>
              <a:latin typeface="Calibri"/>
              <a:ea typeface="Calibri"/>
              <a:cs typeface="Calibri"/>
              <a:sym typeface="Calibri"/>
            </a:endParaRPr>
          </a:p>
        </p:txBody>
      </p:sp>
      <p:cxnSp>
        <p:nvCxnSpPr>
          <p:cNvPr id="164" name="Google Shape;164;p5"/>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65" name="Google Shape;165;p5"/>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Tools</a:t>
            </a:r>
            <a:endParaRPr b="0" i="0" sz="1600" u="none" cap="none" strike="noStrike">
              <a:solidFill>
                <a:schemeClr val="dk1"/>
              </a:solidFill>
              <a:latin typeface="Calibri"/>
              <a:ea typeface="Calibri"/>
              <a:cs typeface="Calibri"/>
              <a:sym typeface="Calibri"/>
            </a:endParaRPr>
          </a:p>
        </p:txBody>
      </p:sp>
      <p:sp>
        <p:nvSpPr>
          <p:cNvPr id="166" name="Google Shape;166;p5"/>
          <p:cNvSpPr/>
          <p:nvPr/>
        </p:nvSpPr>
        <p:spPr>
          <a:xfrm>
            <a:off x="457200" y="2286000"/>
            <a:ext cx="5486400" cy="4025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A1A"/>
              </a:buClr>
              <a:buSzPts val="1500"/>
              <a:buFont typeface="Calibri"/>
              <a:buChar char="•"/>
            </a:pPr>
            <a:r>
              <a:rPr b="1" i="0" lang="en-US" sz="1500" u="none" cap="none" strike="noStrike">
                <a:solidFill>
                  <a:srgbClr val="1A1A1A"/>
                </a:solidFill>
                <a:latin typeface="Calibri"/>
                <a:ea typeface="Calibri"/>
                <a:cs typeface="Calibri"/>
                <a:sym typeface="Calibri"/>
              </a:rPr>
              <a:t>PyTorch Profiler / torch.profiler</a:t>
            </a:r>
            <a:endParaRPr b="1" i="0" sz="1500" u="none" cap="none" strike="noStrike">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All per </a:t>
            </a:r>
            <a:r>
              <a:rPr lang="en-US" sz="1500">
                <a:solidFill>
                  <a:srgbClr val="1A1A1A"/>
                </a:solidFill>
                <a:latin typeface="Calibri"/>
                <a:ea typeface="Calibri"/>
                <a:cs typeface="Calibri"/>
                <a:sym typeface="Calibri"/>
              </a:rPr>
              <a:t>phase</a:t>
            </a:r>
            <a:r>
              <a:rPr lang="en-US" sz="1500">
                <a:solidFill>
                  <a:srgbClr val="1A1A1A"/>
                </a:solidFill>
                <a:latin typeface="Calibri"/>
                <a:ea typeface="Calibri"/>
                <a:cs typeface="Calibri"/>
                <a:sym typeface="Calibri"/>
              </a:rPr>
              <a:t> times are wall-clock seconds measured via timed section spans and verified against the PyTorch Profiler chrome trace.</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4 profiling experiments comparing baseline against optimized scenario generation for the Transformer asset. Each experiment isolates one dimension of the optimization: scalability, caching, parallelism, and combined effect.</a:t>
            </a:r>
            <a:endParaRPr sz="1500">
              <a:solidFill>
                <a:srgbClr val="1A1A1A"/>
              </a:solidFill>
              <a:latin typeface="Calibri"/>
              <a:ea typeface="Calibri"/>
              <a:cs typeface="Calibri"/>
              <a:sym typeface="Calibri"/>
            </a:endParaRPr>
          </a:p>
          <a:p>
            <a:pPr indent="-342900" lvl="0" marL="342900" marR="0" rtl="0" algn="l">
              <a:spcBef>
                <a:spcPts val="800"/>
              </a:spcBef>
              <a:spcAft>
                <a:spcPts val="0"/>
              </a:spcAft>
              <a:buClr>
                <a:srgbClr val="1A1A1A"/>
              </a:buClr>
              <a:buSzPts val="1500"/>
              <a:buFont typeface="Calibri"/>
              <a:buChar char="•"/>
            </a:pPr>
            <a:r>
              <a:rPr b="1" i="0" lang="en-US" sz="1500" u="none" cap="none" strike="noStrike">
                <a:solidFill>
                  <a:srgbClr val="1A1A1A"/>
                </a:solidFill>
                <a:latin typeface="Calibri"/>
                <a:ea typeface="Calibri"/>
                <a:cs typeface="Calibri"/>
                <a:sym typeface="Calibri"/>
              </a:rPr>
              <a:t>Weights &amp; Biases for run-level tracking</a:t>
            </a:r>
            <a:endParaRPr b="1" i="0" sz="1500" u="none" cap="none" strike="noStrike">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Wandb logging is done for both </a:t>
            </a:r>
            <a:r>
              <a:rPr lang="en-US" sz="1500">
                <a:solidFill>
                  <a:srgbClr val="1A1A1A"/>
                </a:solidFill>
                <a:latin typeface="Calibri"/>
                <a:ea typeface="Calibri"/>
                <a:cs typeface="Calibri"/>
                <a:sym typeface="Calibri"/>
              </a:rPr>
              <a:t>scenario generation and evaluation stages.</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Metrics captured span across phase wise timing, llm call metrics, cache hit/miss metrics, valid/invalid scenario count and scenario evaluation scores. </a:t>
            </a:r>
            <a:endParaRPr sz="1500">
              <a:solidFill>
                <a:srgbClr val="1A1A1A"/>
              </a:solidFill>
              <a:latin typeface="Calibri"/>
              <a:ea typeface="Calibri"/>
              <a:cs typeface="Calibri"/>
              <a:sym typeface="Calibri"/>
            </a:endParaRPr>
          </a:p>
          <a:p>
            <a:pPr indent="0" lvl="0" marL="914400" marR="0" rtl="0" algn="l">
              <a:spcBef>
                <a:spcPts val="800"/>
              </a:spcBef>
              <a:spcAft>
                <a:spcPts val="0"/>
              </a:spcAft>
              <a:buNone/>
            </a:pPr>
            <a:r>
              <a:t/>
            </a:r>
            <a:endParaRPr sz="1500">
              <a:solidFill>
                <a:srgbClr val="1A1A1A"/>
              </a:solidFill>
              <a:latin typeface="Calibri"/>
              <a:ea typeface="Calibri"/>
              <a:cs typeface="Calibri"/>
              <a:sym typeface="Calibri"/>
            </a:endParaRPr>
          </a:p>
        </p:txBody>
      </p:sp>
      <p:sp>
        <p:nvSpPr>
          <p:cNvPr id="167" name="Google Shape;167;p5"/>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Metrics captured</a:t>
            </a:r>
            <a:endParaRPr b="0" i="0" sz="1600" u="none" cap="none" strike="noStrike">
              <a:solidFill>
                <a:schemeClr val="dk1"/>
              </a:solidFill>
              <a:latin typeface="Calibri"/>
              <a:ea typeface="Calibri"/>
              <a:cs typeface="Calibri"/>
              <a:sym typeface="Calibri"/>
            </a:endParaRPr>
          </a:p>
        </p:txBody>
      </p:sp>
      <p:sp>
        <p:nvSpPr>
          <p:cNvPr id="168" name="Google Shape;168;p5"/>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Per-LLM-Call Timeline </a:t>
            </a:r>
            <a:r>
              <a:rPr b="1" lang="en-US" sz="1500">
                <a:solidFill>
                  <a:srgbClr val="1A1A1A"/>
                </a:solidFill>
                <a:latin typeface="Calibri"/>
                <a:ea typeface="Calibri"/>
                <a:cs typeface="Calibri"/>
                <a:sym typeface="Calibri"/>
              </a:rPr>
              <a:t>(llm/*)</a:t>
            </a:r>
            <a:r>
              <a:rPr lang="en-US" sz="1500">
                <a:solidFill>
                  <a:srgbClr val="1A1A1A"/>
                </a:solidFill>
                <a:latin typeface="Calibri"/>
                <a:ea typeface="Calibri"/>
                <a:cs typeface="Calibri"/>
                <a:sym typeface="Calibri"/>
              </a:rPr>
              <a:t>: Wall clock time per LLM call, prompt token count, completion token count, total token count.</a:t>
            </a:r>
            <a:endParaRPr sz="1500">
              <a:solidFill>
                <a:srgbClr val="1A1A1A"/>
              </a:solidFill>
              <a:latin typeface="Calibri"/>
              <a:ea typeface="Calibri"/>
              <a:cs typeface="Calibri"/>
              <a:sym typeface="Calibri"/>
            </a:endParaRPr>
          </a:p>
          <a:p>
            <a:pPr indent="-342900" lvl="0" marL="3429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Run-Level Summary Scalars: </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run/*</a:t>
            </a:r>
            <a:r>
              <a:rPr lang="en-US" sz="1500">
                <a:solidFill>
                  <a:srgbClr val="1A1A1A"/>
                </a:solidFill>
                <a:latin typeface="Calibri"/>
                <a:ea typeface="Calibri"/>
                <a:cs typeface="Calibri"/>
                <a:sym typeface="Calibri"/>
              </a:rPr>
              <a:t>: top-level metadata: asset name, generation mode (open form / closed form) and total scenarios generated.</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tokens/*</a:t>
            </a:r>
            <a:r>
              <a:rPr lang="en-US" sz="1500">
                <a:solidFill>
                  <a:srgbClr val="1A1A1A"/>
                </a:solidFill>
                <a:latin typeface="Calibri"/>
                <a:ea typeface="Calibri"/>
                <a:cs typeface="Calibri"/>
                <a:sym typeface="Calibri"/>
              </a:rPr>
              <a:t>: aggregate token usage: prompt, completion, and combined tokens across all LLM calls.</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timing/*</a:t>
            </a:r>
            <a:r>
              <a:rPr lang="en-US" sz="1500">
                <a:solidFill>
                  <a:srgbClr val="1A1A1A"/>
                </a:solidFill>
                <a:latin typeface="Calibri"/>
                <a:ea typeface="Calibri"/>
                <a:cs typeface="Calibri"/>
                <a:sym typeface="Calibri"/>
              </a:rPr>
              <a:t>: w</a:t>
            </a:r>
            <a:r>
              <a:rPr lang="en-US" sz="1500">
                <a:solidFill>
                  <a:srgbClr val="1A1A1A"/>
                </a:solidFill>
                <a:latin typeface="Calibri"/>
                <a:ea typeface="Calibri"/>
                <a:cs typeface="Calibri"/>
                <a:sym typeface="Calibri"/>
              </a:rPr>
              <a:t>all</a:t>
            </a:r>
            <a:r>
              <a:rPr lang="en-US" sz="1500">
                <a:solidFill>
                  <a:srgbClr val="1A1A1A"/>
                </a:solidFill>
                <a:latin typeface="Calibri"/>
                <a:ea typeface="Calibri"/>
                <a:cs typeface="Calibri"/>
                <a:sym typeface="Calibri"/>
              </a:rPr>
              <a:t>-clock and CPU time for each pipeline phase.</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cache/*</a:t>
            </a:r>
            <a:r>
              <a:rPr lang="en-US" sz="1500">
                <a:solidFill>
                  <a:srgbClr val="1A1A1A"/>
                </a:solidFill>
                <a:latin typeface="Calibri"/>
                <a:ea typeface="Calibri"/>
                <a:cs typeface="Calibri"/>
                <a:sym typeface="Calibri"/>
              </a:rPr>
              <a:t>: cache hit/miss counts, hit/miss rates.</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batch summary/*</a:t>
            </a:r>
            <a:r>
              <a:rPr lang="en-US" sz="1500">
                <a:solidFill>
                  <a:srgbClr val="1A1A1A"/>
                </a:solidFill>
                <a:latin typeface="Calibri"/>
                <a:ea typeface="Calibri"/>
                <a:cs typeface="Calibri"/>
                <a:sym typeface="Calibri"/>
              </a:rPr>
              <a:t>: total scenarios generated, valid, repaired, rejected, attempt count, and overall validation pass rate.</a:t>
            </a:r>
            <a:endParaRPr sz="1500">
              <a:solidFill>
                <a:srgbClr val="1A1A1A"/>
              </a:solidFill>
              <a:latin typeface="Calibri"/>
              <a:ea typeface="Calibri"/>
              <a:cs typeface="Calibri"/>
              <a:sym typeface="Calibri"/>
            </a:endParaRPr>
          </a:p>
        </p:txBody>
      </p:sp>
      <p:sp>
        <p:nvSpPr>
          <p:cNvPr id="169" name="Google Shape;169;p5"/>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70" name="Google Shape;170;p5"/>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5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g39a876354f6_1_24"/>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Profiling Methodology</a:t>
            </a:r>
            <a:endParaRPr b="0" i="0" sz="3200" u="none" cap="none" strike="noStrike">
              <a:solidFill>
                <a:schemeClr val="dk1"/>
              </a:solidFill>
              <a:latin typeface="Calibri"/>
              <a:ea typeface="Calibri"/>
              <a:cs typeface="Calibri"/>
              <a:sym typeface="Calibri"/>
            </a:endParaRPr>
          </a:p>
        </p:txBody>
      </p:sp>
      <p:cxnSp>
        <p:nvCxnSpPr>
          <p:cNvPr id="177" name="Google Shape;177;g39a876354f6_1_24"/>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178" name="Google Shape;178;g39a876354f6_1_24"/>
          <p:cNvSpPr/>
          <p:nvPr/>
        </p:nvSpPr>
        <p:spPr>
          <a:xfrm>
            <a:off x="457200" y="1828800"/>
            <a:ext cx="5486400" cy="36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Metrics captured</a:t>
            </a:r>
            <a:endParaRPr b="1" sz="1600">
              <a:solidFill>
                <a:srgbClr val="1A1A1A"/>
              </a:solidFill>
              <a:latin typeface="Calibri"/>
              <a:ea typeface="Calibri"/>
              <a:cs typeface="Calibri"/>
              <a:sym typeface="Calibri"/>
            </a:endParaRPr>
          </a:p>
        </p:txBody>
      </p:sp>
      <p:sp>
        <p:nvSpPr>
          <p:cNvPr id="179" name="Google Shape;179;g39a876354f6_1_24"/>
          <p:cNvSpPr/>
          <p:nvPr/>
        </p:nvSpPr>
        <p:spPr>
          <a:xfrm>
            <a:off x="457200" y="2286000"/>
            <a:ext cx="5486400" cy="4025400"/>
          </a:xfrm>
          <a:prstGeom prst="rect">
            <a:avLst/>
          </a:prstGeom>
          <a:noFill/>
          <a:ln>
            <a:noFill/>
          </a:ln>
        </p:spPr>
        <p:txBody>
          <a:bodyPr anchorCtr="0" anchor="t" bIns="45700" lIns="91425" spcFirstLastPara="1" rIns="91425" wrap="square" tIns="45700">
            <a:noAutofit/>
          </a:bodyPr>
          <a:lstStyle/>
          <a:p>
            <a:pPr indent="-323850" lvl="0" marL="45720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Rich Tables </a:t>
            </a:r>
            <a:endParaRPr b="1" sz="1500">
              <a:solidFill>
                <a:srgbClr val="1A1A1A"/>
              </a:solidFill>
              <a:latin typeface="Calibri"/>
              <a:ea typeface="Calibri"/>
              <a:cs typeface="Calibri"/>
              <a:sym typeface="Calibri"/>
            </a:endParaRPr>
          </a:p>
          <a:p>
            <a:pPr indent="-323850" lvl="1" marL="91440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llm calls table</a:t>
            </a:r>
            <a:r>
              <a:rPr lang="en-US" sz="1500">
                <a:solidFill>
                  <a:srgbClr val="1A1A1A"/>
                </a:solidFill>
                <a:latin typeface="Calibri"/>
                <a:ea typeface="Calibri"/>
                <a:cs typeface="Calibri"/>
                <a:sym typeface="Calibri"/>
              </a:rPr>
              <a:t>: One row per LLM call with columns: phase, prompt tokens, completion tokens, total tokens, wall sec. </a:t>
            </a:r>
            <a:endParaRPr sz="1500">
              <a:solidFill>
                <a:srgbClr val="1A1A1A"/>
              </a:solidFill>
              <a:latin typeface="Calibri"/>
              <a:ea typeface="Calibri"/>
              <a:cs typeface="Calibri"/>
              <a:sym typeface="Calibri"/>
            </a:endParaRPr>
          </a:p>
          <a:p>
            <a:pPr indent="-323850" lvl="1" marL="91440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batch results table</a:t>
            </a:r>
            <a:r>
              <a:rPr lang="en-US" sz="1500">
                <a:solidFill>
                  <a:srgbClr val="1A1A1A"/>
                </a:solidFill>
                <a:latin typeface="Calibri"/>
                <a:ea typeface="Calibri"/>
                <a:cs typeface="Calibri"/>
                <a:sym typeface="Calibri"/>
              </a:rPr>
              <a:t>: One row per batch generation attempt with columns: focus, attempt, generated, valid, repaired, rejected counts and pass rate.</a:t>
            </a:r>
            <a:endParaRPr sz="1500">
              <a:solidFill>
                <a:srgbClr val="1A1A1A"/>
              </a:solidFill>
              <a:latin typeface="Calibri"/>
              <a:ea typeface="Calibri"/>
              <a:cs typeface="Calibri"/>
              <a:sym typeface="Calibri"/>
            </a:endParaRPr>
          </a:p>
          <a:p>
            <a:pPr indent="0" lvl="0" marL="914400" rtl="0" algn="l">
              <a:spcBef>
                <a:spcPts val="800"/>
              </a:spcBef>
              <a:spcAft>
                <a:spcPts val="0"/>
              </a:spcAft>
              <a:buNone/>
            </a:pPr>
            <a:r>
              <a:t/>
            </a:r>
            <a:endParaRPr sz="1500">
              <a:solidFill>
                <a:srgbClr val="1A1A1A"/>
              </a:solidFill>
              <a:latin typeface="Calibri"/>
              <a:ea typeface="Calibri"/>
              <a:cs typeface="Calibri"/>
              <a:sym typeface="Calibri"/>
            </a:endParaRPr>
          </a:p>
          <a:p>
            <a:pPr indent="-323850" lvl="0" marL="45720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Per-Scenario Timeline </a:t>
            </a:r>
            <a:r>
              <a:rPr b="1" lang="en-US" sz="1500">
                <a:solidFill>
                  <a:srgbClr val="1A1A1A"/>
                </a:solidFill>
                <a:latin typeface="Calibri"/>
                <a:ea typeface="Calibri"/>
                <a:cs typeface="Calibri"/>
                <a:sym typeface="Calibri"/>
              </a:rPr>
              <a:t>(eval/*)</a:t>
            </a:r>
            <a:endParaRPr b="1"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eval/scenario_id</a:t>
            </a:r>
            <a:r>
              <a:rPr lang="en-US" sz="1500">
                <a:solidFill>
                  <a:srgbClr val="1A1A1A"/>
                </a:solidFill>
                <a:latin typeface="Calibri"/>
                <a:ea typeface="Calibri"/>
                <a:cs typeface="Calibri"/>
                <a:sym typeface="Calibri"/>
              </a:rPr>
              <a:t>: Scenario identifier </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eval/type</a:t>
            </a:r>
            <a:r>
              <a:rPr lang="en-US" sz="1500">
                <a:solidFill>
                  <a:srgbClr val="1A1A1A"/>
                </a:solidFill>
                <a:latin typeface="Calibri"/>
                <a:ea typeface="Calibri"/>
                <a:cs typeface="Calibri"/>
                <a:sym typeface="Calibri"/>
              </a:rPr>
              <a:t>: Scenario type (e.g. iot, tsfm)</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eval/static_score</a:t>
            </a:r>
            <a:r>
              <a:rPr lang="en-US" sz="1500">
                <a:solidFill>
                  <a:srgbClr val="1A1A1A"/>
                </a:solidFill>
                <a:latin typeface="Calibri"/>
                <a:ea typeface="Calibri"/>
                <a:cs typeface="Calibri"/>
                <a:sym typeface="Calibri"/>
              </a:rPr>
              <a:t>: Static score for the scenario (/20) </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eval/llm score</a:t>
            </a:r>
            <a:r>
              <a:rPr lang="en-US" sz="1500">
                <a:solidFill>
                  <a:srgbClr val="1A1A1A"/>
                </a:solidFill>
                <a:latin typeface="Calibri"/>
                <a:ea typeface="Calibri"/>
                <a:cs typeface="Calibri"/>
                <a:sym typeface="Calibri"/>
              </a:rPr>
              <a:t>: LLM judge score for the scenario (/30)</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eval/dry_run_score</a:t>
            </a:r>
            <a:r>
              <a:rPr lang="en-US" sz="1500">
                <a:solidFill>
                  <a:srgbClr val="1A1A1A"/>
                </a:solidFill>
                <a:latin typeface="Calibri"/>
                <a:ea typeface="Calibri"/>
                <a:cs typeface="Calibri"/>
                <a:sym typeface="Calibri"/>
              </a:rPr>
              <a:t>: Dry-run execution score for a scenario(/50)</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eval/quality_score</a:t>
            </a:r>
            <a:r>
              <a:rPr lang="en-US" sz="1500">
                <a:solidFill>
                  <a:srgbClr val="1A1A1A"/>
                </a:solidFill>
                <a:latin typeface="Calibri"/>
                <a:ea typeface="Calibri"/>
                <a:cs typeface="Calibri"/>
                <a:sym typeface="Calibri"/>
              </a:rPr>
              <a:t>: Composite quality score for scenario(/100)</a:t>
            </a:r>
            <a:endParaRPr sz="1500">
              <a:solidFill>
                <a:srgbClr val="1A1A1A"/>
              </a:solidFill>
              <a:latin typeface="Calibri"/>
              <a:ea typeface="Calibri"/>
              <a:cs typeface="Calibri"/>
              <a:sym typeface="Calibri"/>
            </a:endParaRPr>
          </a:p>
        </p:txBody>
      </p:sp>
      <p:sp>
        <p:nvSpPr>
          <p:cNvPr id="180" name="Google Shape;180;g39a876354f6_1_24"/>
          <p:cNvSpPr/>
          <p:nvPr/>
        </p:nvSpPr>
        <p:spPr>
          <a:xfrm>
            <a:off x="6263640" y="1828800"/>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Metrics captured</a:t>
            </a:r>
            <a:endParaRPr b="0" i="0" sz="1600" u="none" cap="none" strike="noStrike">
              <a:solidFill>
                <a:schemeClr val="dk1"/>
              </a:solidFill>
              <a:latin typeface="Calibri"/>
              <a:ea typeface="Calibri"/>
              <a:cs typeface="Calibri"/>
              <a:sym typeface="Calibri"/>
            </a:endParaRPr>
          </a:p>
        </p:txBody>
      </p:sp>
      <p:sp>
        <p:nvSpPr>
          <p:cNvPr id="181" name="Google Shape;181;g39a876354f6_1_24"/>
          <p:cNvSpPr/>
          <p:nvPr/>
        </p:nvSpPr>
        <p:spPr>
          <a:xfrm>
            <a:off x="6263650" y="2286000"/>
            <a:ext cx="5486400" cy="4025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Run-Level Summary Scalars (wandb.summary)</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summary/static/*</a:t>
            </a:r>
            <a:r>
              <a:rPr lang="en-US" sz="1500">
                <a:solidFill>
                  <a:srgbClr val="1A1A1A"/>
                </a:solidFill>
                <a:latin typeface="Calibri"/>
                <a:ea typeface="Calibri"/>
                <a:cs typeface="Calibri"/>
                <a:sym typeface="Calibri"/>
              </a:rPr>
              <a:t>: mean static score across all scenarios</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summary/llm/*</a:t>
            </a:r>
            <a:r>
              <a:rPr lang="en-US" sz="1500">
                <a:solidFill>
                  <a:srgbClr val="1A1A1A"/>
                </a:solidFill>
                <a:latin typeface="Calibri"/>
                <a:ea typeface="Calibri"/>
                <a:cs typeface="Calibri"/>
                <a:sym typeface="Calibri"/>
              </a:rPr>
              <a:t>: mean LLM as a judge score across all scenarios</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summary/dry_run/*</a:t>
            </a:r>
            <a:r>
              <a:rPr lang="en-US" sz="1500">
                <a:solidFill>
                  <a:srgbClr val="1A1A1A"/>
                </a:solidFill>
                <a:latin typeface="Calibri"/>
                <a:ea typeface="Calibri"/>
                <a:cs typeface="Calibri"/>
                <a:sym typeface="Calibri"/>
              </a:rPr>
              <a:t>: mean dry-run score </a:t>
            </a:r>
            <a:r>
              <a:rPr lang="en-US" sz="1500">
                <a:solidFill>
                  <a:srgbClr val="1A1A1A"/>
                </a:solidFill>
                <a:latin typeface="Calibri"/>
                <a:ea typeface="Calibri"/>
                <a:cs typeface="Calibri"/>
                <a:sym typeface="Calibri"/>
              </a:rPr>
              <a:t>across</a:t>
            </a:r>
            <a:r>
              <a:rPr lang="en-US" sz="1500">
                <a:solidFill>
                  <a:srgbClr val="1A1A1A"/>
                </a:solidFill>
                <a:latin typeface="Calibri"/>
                <a:ea typeface="Calibri"/>
                <a:cs typeface="Calibri"/>
                <a:sym typeface="Calibri"/>
              </a:rPr>
              <a:t> all scenarios</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summary/quality/*</a:t>
            </a:r>
            <a:r>
              <a:rPr lang="en-US" sz="1500">
                <a:solidFill>
                  <a:srgbClr val="1A1A1A"/>
                </a:solidFill>
                <a:latin typeface="Calibri"/>
                <a:ea typeface="Calibri"/>
                <a:cs typeface="Calibri"/>
                <a:sym typeface="Calibri"/>
              </a:rPr>
              <a:t>: mean, min, and max composite quality score across all scenarios. </a:t>
            </a:r>
            <a:endParaRPr sz="1500">
              <a:solidFill>
                <a:srgbClr val="1A1A1A"/>
              </a:solidFill>
              <a:latin typeface="Calibri"/>
              <a:ea typeface="Calibri"/>
              <a:cs typeface="Calibri"/>
              <a:sym typeface="Calibri"/>
            </a:endParaRPr>
          </a:p>
          <a:p>
            <a:pPr indent="-323850" lvl="0" marL="4572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Rich Tables </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eval_report_table:</a:t>
            </a:r>
            <a:r>
              <a:rPr lang="en-US" sz="1500">
                <a:solidFill>
                  <a:srgbClr val="1A1A1A"/>
                </a:solidFill>
                <a:latin typeface="Calibri"/>
                <a:ea typeface="Calibri"/>
                <a:cs typeface="Calibri"/>
                <a:sym typeface="Calibri"/>
              </a:rPr>
              <a:t> one row per scenario with columns: id, type, category, evaluation scores, issues</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llm_calls_table</a:t>
            </a:r>
            <a:r>
              <a:rPr lang="en-US" sz="1500">
                <a:solidFill>
                  <a:srgbClr val="1A1A1A"/>
                </a:solidFill>
                <a:latin typeface="Calibri"/>
                <a:ea typeface="Calibri"/>
                <a:cs typeface="Calibri"/>
                <a:sym typeface="Calibri"/>
              </a:rPr>
              <a:t>: one row per LLM call with columns: phase, prompt tokens, completion tokens, total tokens, wall sec.</a:t>
            </a:r>
            <a:endParaRPr sz="1500">
              <a:solidFill>
                <a:srgbClr val="1A1A1A"/>
              </a:solidFill>
              <a:latin typeface="Calibri"/>
              <a:ea typeface="Calibri"/>
              <a:cs typeface="Calibri"/>
              <a:sym typeface="Calibri"/>
            </a:endParaRPr>
          </a:p>
        </p:txBody>
      </p:sp>
      <p:sp>
        <p:nvSpPr>
          <p:cNvPr id="182" name="Google Shape;182;g39a876354f6_1_24"/>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83" name="Google Shape;183;g39a876354f6_1_24"/>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5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6"/>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Headline Numbers</a:t>
            </a:r>
            <a:endParaRPr b="0" i="0" sz="3200" u="none" cap="none" strike="noStrike">
              <a:solidFill>
                <a:schemeClr val="dk1"/>
              </a:solidFill>
              <a:latin typeface="Calibri"/>
              <a:ea typeface="Calibri"/>
              <a:cs typeface="Calibri"/>
              <a:sym typeface="Calibri"/>
            </a:endParaRPr>
          </a:p>
        </p:txBody>
      </p:sp>
      <p:cxnSp>
        <p:nvCxnSpPr>
          <p:cNvPr id="190" name="Google Shape;190;p6"/>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91" name="Google Shape;191;p6"/>
          <p:cNvSpPr/>
          <p:nvPr/>
        </p:nvSpPr>
        <p:spPr>
          <a:xfrm>
            <a:off x="457200" y="2286000"/>
            <a:ext cx="3584448"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8</a:t>
            </a:r>
            <a:r>
              <a:rPr b="1" i="0" lang="en-US" sz="6400" u="none" cap="none" strike="noStrike">
                <a:solidFill>
                  <a:srgbClr val="C75B2A"/>
                </a:solidFill>
                <a:latin typeface="Calibri"/>
                <a:ea typeface="Calibri"/>
                <a:cs typeface="Calibri"/>
                <a:sym typeface="Calibri"/>
              </a:rPr>
              <a:t>x</a:t>
            </a:r>
            <a:endParaRPr b="0" i="0" sz="6400" u="none" cap="none" strike="noStrike">
              <a:solidFill>
                <a:schemeClr val="dk1"/>
              </a:solidFill>
              <a:latin typeface="Calibri"/>
              <a:ea typeface="Calibri"/>
              <a:cs typeface="Calibri"/>
              <a:sym typeface="Calibri"/>
            </a:endParaRPr>
          </a:p>
        </p:txBody>
      </p:sp>
      <p:sp>
        <p:nvSpPr>
          <p:cNvPr id="192" name="Google Shape;192;p6"/>
          <p:cNvSpPr/>
          <p:nvPr/>
        </p:nvSpPr>
        <p:spPr>
          <a:xfrm>
            <a:off x="457200" y="384048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Speedup from all optimizations</a:t>
            </a:r>
            <a:endParaRPr b="0" i="0" sz="1600" u="none" cap="none" strike="noStrike">
              <a:solidFill>
                <a:schemeClr val="dk1"/>
              </a:solidFill>
              <a:latin typeface="Calibri"/>
              <a:ea typeface="Calibri"/>
              <a:cs typeface="Calibri"/>
              <a:sym typeface="Calibri"/>
            </a:endParaRPr>
          </a:p>
        </p:txBody>
      </p:sp>
      <p:sp>
        <p:nvSpPr>
          <p:cNvPr id="193" name="Google Shape;193;p6"/>
          <p:cNvSpPr/>
          <p:nvPr/>
        </p:nvSpPr>
        <p:spPr>
          <a:xfrm>
            <a:off x="457200" y="425196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200"/>
              <a:buFont typeface="Calibri"/>
              <a:buNone/>
            </a:pPr>
            <a:r>
              <a:rPr b="0" i="1" lang="en-US" sz="1200" u="none" cap="none" strike="noStrike">
                <a:solidFill>
                  <a:srgbClr val="6B6F76"/>
                </a:solidFill>
                <a:latin typeface="Calibri"/>
                <a:ea typeface="Calibri"/>
                <a:cs typeface="Calibri"/>
                <a:sym typeface="Calibri"/>
              </a:rPr>
              <a:t>[baseline → optimized, </a:t>
            </a:r>
            <a:r>
              <a:rPr i="1" lang="en-US" sz="1200">
                <a:solidFill>
                  <a:srgbClr val="6B6F76"/>
                </a:solidFill>
                <a:latin typeface="Calibri"/>
                <a:ea typeface="Calibri"/>
                <a:cs typeface="Calibri"/>
                <a:sym typeface="Calibri"/>
              </a:rPr>
              <a:t>408 sec→ 50 sec</a:t>
            </a:r>
            <a:r>
              <a:rPr b="0" i="1" lang="en-US" sz="1200" u="none" cap="none" strike="noStrike">
                <a:solidFill>
                  <a:srgbClr val="6B6F7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94" name="Google Shape;194;p6"/>
          <p:cNvSpPr/>
          <p:nvPr/>
        </p:nvSpPr>
        <p:spPr>
          <a:xfrm>
            <a:off x="4315968" y="2286000"/>
            <a:ext cx="3584448"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4.6x</a:t>
            </a:r>
            <a:endParaRPr b="0" i="0" sz="6400" u="none" cap="none" strike="noStrike">
              <a:solidFill>
                <a:schemeClr val="dk1"/>
              </a:solidFill>
              <a:latin typeface="Calibri"/>
              <a:ea typeface="Calibri"/>
              <a:cs typeface="Calibri"/>
              <a:sym typeface="Calibri"/>
            </a:endParaRPr>
          </a:p>
        </p:txBody>
      </p:sp>
      <p:sp>
        <p:nvSpPr>
          <p:cNvPr id="195" name="Google Shape;195;p6"/>
          <p:cNvSpPr/>
          <p:nvPr/>
        </p:nvSpPr>
        <p:spPr>
          <a:xfrm>
            <a:off x="4708675" y="3840475"/>
            <a:ext cx="2790900" cy="365700"/>
          </a:xfrm>
          <a:prstGeom prst="rect">
            <a:avLst/>
          </a:prstGeom>
          <a:noFill/>
          <a:ln>
            <a:noFill/>
          </a:ln>
        </p:spPr>
        <p:txBody>
          <a:bodyPr anchorCtr="0" anchor="ctr" bIns="0" lIns="0" spcFirstLastPara="1" rIns="0" wrap="square" tIns="0">
            <a:noAutofit/>
          </a:bodyPr>
          <a:lstStyle/>
          <a:p>
            <a:pPr indent="0" lvl="0" marL="457200" marR="0" rtl="0" algn="l">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Speedup from Caching</a:t>
            </a:r>
            <a:endParaRPr b="0" i="0" sz="1600" u="none" cap="none" strike="noStrike">
              <a:solidFill>
                <a:schemeClr val="dk1"/>
              </a:solidFill>
              <a:latin typeface="Calibri"/>
              <a:ea typeface="Calibri"/>
              <a:cs typeface="Calibri"/>
              <a:sym typeface="Calibri"/>
            </a:endParaRPr>
          </a:p>
        </p:txBody>
      </p:sp>
      <p:sp>
        <p:nvSpPr>
          <p:cNvPr id="196" name="Google Shape;196;p6"/>
          <p:cNvSpPr/>
          <p:nvPr/>
        </p:nvSpPr>
        <p:spPr>
          <a:xfrm>
            <a:off x="4315968" y="425196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200"/>
              <a:buFont typeface="Calibri"/>
              <a:buNone/>
            </a:pPr>
            <a:r>
              <a:rPr b="0" i="1" lang="en-US" sz="1200" u="none" cap="none" strike="noStrike">
                <a:solidFill>
                  <a:srgbClr val="6B6F76"/>
                </a:solidFill>
                <a:latin typeface="Calibri"/>
                <a:ea typeface="Calibri"/>
                <a:cs typeface="Calibri"/>
                <a:sym typeface="Calibri"/>
              </a:rPr>
              <a:t>[</a:t>
            </a:r>
            <a:r>
              <a:rPr i="1" lang="en-US" sz="1200">
                <a:solidFill>
                  <a:srgbClr val="6B6F76"/>
                </a:solidFill>
                <a:latin typeface="Calibri"/>
                <a:ea typeface="Calibri"/>
                <a:cs typeface="Calibri"/>
                <a:sym typeface="Calibri"/>
              </a:rPr>
              <a:t>Cold Cache → Warm Cache,  302.4 sec → 65.09 sec</a:t>
            </a:r>
            <a:r>
              <a:rPr b="0" i="1" lang="en-US" sz="1200" u="none" cap="none" strike="noStrike">
                <a:solidFill>
                  <a:srgbClr val="6B6F7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97" name="Google Shape;197;p6"/>
          <p:cNvSpPr/>
          <p:nvPr/>
        </p:nvSpPr>
        <p:spPr>
          <a:xfrm>
            <a:off x="8174736" y="2286000"/>
            <a:ext cx="3584448" cy="146304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1.85x</a:t>
            </a:r>
            <a:endParaRPr b="1" sz="6400">
              <a:solidFill>
                <a:srgbClr val="C75B2A"/>
              </a:solidFill>
              <a:latin typeface="Calibri"/>
              <a:ea typeface="Calibri"/>
              <a:cs typeface="Calibri"/>
              <a:sym typeface="Calibri"/>
            </a:endParaRPr>
          </a:p>
        </p:txBody>
      </p:sp>
      <p:sp>
        <p:nvSpPr>
          <p:cNvPr id="198" name="Google Shape;198;p6"/>
          <p:cNvSpPr/>
          <p:nvPr/>
        </p:nvSpPr>
        <p:spPr>
          <a:xfrm>
            <a:off x="7839499" y="3840475"/>
            <a:ext cx="3919800" cy="36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1A"/>
              </a:buClr>
              <a:buSzPts val="1600"/>
              <a:buFont typeface="Calibri"/>
              <a:buNone/>
            </a:pPr>
            <a:r>
              <a:t/>
            </a:r>
            <a:endParaRPr b="1" sz="1600">
              <a:solidFill>
                <a:srgbClr val="1A1A1A"/>
              </a:solidFill>
              <a:latin typeface="Calibri"/>
              <a:ea typeface="Calibri"/>
              <a:cs typeface="Calibri"/>
              <a:sym typeface="Calibri"/>
            </a:endParaRPr>
          </a:p>
          <a:p>
            <a:pPr indent="0" lvl="0" marL="0" rtl="0" algn="l">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Speedup from Parallel Scenario Generation</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1A1A1A"/>
              </a:buClr>
              <a:buSzPts val="1600"/>
              <a:buFont typeface="Calibri"/>
              <a:buNone/>
            </a:pPr>
            <a:r>
              <a:t/>
            </a:r>
            <a:endParaRPr b="1" sz="1600">
              <a:solidFill>
                <a:srgbClr val="1A1A1A"/>
              </a:solidFill>
              <a:latin typeface="Calibri"/>
              <a:ea typeface="Calibri"/>
              <a:cs typeface="Calibri"/>
              <a:sym typeface="Calibri"/>
            </a:endParaRPr>
          </a:p>
        </p:txBody>
      </p:sp>
      <p:sp>
        <p:nvSpPr>
          <p:cNvPr id="199" name="Google Shape;199;p6"/>
          <p:cNvSpPr/>
          <p:nvPr/>
        </p:nvSpPr>
        <p:spPr>
          <a:xfrm>
            <a:off x="8174736" y="4251960"/>
            <a:ext cx="3584448" cy="3657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6B6F76"/>
              </a:buClr>
              <a:buSzPts val="1200"/>
              <a:buFont typeface="Calibri"/>
              <a:buNone/>
            </a:pPr>
            <a:r>
              <a:rPr i="1" lang="en-US" sz="1200">
                <a:solidFill>
                  <a:srgbClr val="6B6F76"/>
                </a:solidFill>
                <a:latin typeface="Calibri"/>
                <a:ea typeface="Calibri"/>
                <a:cs typeface="Calibri"/>
                <a:sym typeface="Calibri"/>
              </a:rPr>
              <a:t>[C = 1 → C = 5,  87.3 sec → 47.3 sec]</a:t>
            </a:r>
            <a:endParaRPr i="1" sz="1200">
              <a:solidFill>
                <a:srgbClr val="6B6F76"/>
              </a:solidFill>
              <a:latin typeface="Calibri"/>
              <a:ea typeface="Calibri"/>
              <a:cs typeface="Calibri"/>
              <a:sym typeface="Calibri"/>
            </a:endParaRPr>
          </a:p>
        </p:txBody>
      </p:sp>
      <p:sp>
        <p:nvSpPr>
          <p:cNvPr id="200" name="Google Shape;200;p6"/>
          <p:cNvSpPr/>
          <p:nvPr/>
        </p:nvSpPr>
        <p:spPr>
          <a:xfrm>
            <a:off x="457200" y="5739852"/>
            <a:ext cx="11274600" cy="4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100"/>
              <a:buFont typeface="Calibri"/>
              <a:buNone/>
            </a:pPr>
            <a:r>
              <a:rPr b="0" i="1" lang="en-US" sz="1100" u="none" cap="none" strike="noStrike">
                <a:solidFill>
                  <a:srgbClr val="6B6F76"/>
                </a:solidFill>
                <a:latin typeface="Calibri"/>
                <a:ea typeface="Calibri"/>
                <a:cs typeface="Calibri"/>
                <a:sym typeface="Calibri"/>
              </a:rPr>
              <a:t>All measurements are averaged over </a:t>
            </a:r>
            <a:r>
              <a:rPr i="1" lang="en-US" sz="1100">
                <a:solidFill>
                  <a:srgbClr val="6B6F76"/>
                </a:solidFill>
                <a:latin typeface="Calibri"/>
                <a:ea typeface="Calibri"/>
                <a:cs typeface="Calibri"/>
                <a:sym typeface="Calibri"/>
              </a:rPr>
              <a:t>3</a:t>
            </a:r>
            <a:r>
              <a:rPr b="0" i="1" lang="en-US" sz="1100" u="none" cap="none" strike="noStrike">
                <a:solidFill>
                  <a:srgbClr val="6B6F76"/>
                </a:solidFill>
                <a:latin typeface="Calibri"/>
                <a:ea typeface="Calibri"/>
                <a:cs typeface="Calibri"/>
                <a:sym typeface="Calibri"/>
              </a:rPr>
              <a:t> runs</a:t>
            </a:r>
            <a:r>
              <a:rPr i="1" lang="en-US" sz="1100">
                <a:solidFill>
                  <a:srgbClr val="6B6F76"/>
                </a:solidFill>
                <a:latin typeface="Calibri"/>
                <a:ea typeface="Calibri"/>
                <a:cs typeface="Calibri"/>
                <a:sym typeface="Calibri"/>
              </a:rPr>
              <a:t>.</a:t>
            </a:r>
            <a:endParaRPr i="1" sz="1100">
              <a:solidFill>
                <a:srgbClr val="6B6F76"/>
              </a:solidFill>
              <a:latin typeface="Calibri"/>
              <a:ea typeface="Calibri"/>
              <a:cs typeface="Calibri"/>
              <a:sym typeface="Calibri"/>
            </a:endParaRPr>
          </a:p>
          <a:p>
            <a:pPr indent="0" lvl="0" marL="0" marR="0" rtl="0" algn="ctr">
              <a:spcBef>
                <a:spcPts val="0"/>
              </a:spcBef>
              <a:spcAft>
                <a:spcPts val="0"/>
              </a:spcAft>
              <a:buClr>
                <a:srgbClr val="6B6F76"/>
              </a:buClr>
              <a:buSzPts val="1100"/>
              <a:buFont typeface="Calibri"/>
              <a:buNone/>
            </a:pPr>
            <a:r>
              <a:rPr i="1" lang="en-US" sz="1100">
                <a:solidFill>
                  <a:srgbClr val="6B6F76"/>
                </a:solidFill>
                <a:latin typeface="Calibri"/>
                <a:ea typeface="Calibri"/>
                <a:cs typeface="Calibri"/>
                <a:sym typeface="Calibri"/>
              </a:rPr>
              <a:t>C controls how many of the 5 domain {iot, fmsr, tsfm, wo, vibration} scenarios are generated in parallel.</a:t>
            </a:r>
            <a:endParaRPr i="1" sz="1100">
              <a:solidFill>
                <a:srgbClr val="6B6F76"/>
              </a:solidFill>
              <a:latin typeface="Calibri"/>
              <a:ea typeface="Calibri"/>
              <a:cs typeface="Calibri"/>
              <a:sym typeface="Calibri"/>
            </a:endParaRPr>
          </a:p>
          <a:p>
            <a:pPr indent="0" lvl="0" marL="0" marR="0" rtl="0" algn="ctr">
              <a:spcBef>
                <a:spcPts val="0"/>
              </a:spcBef>
              <a:spcAft>
                <a:spcPts val="0"/>
              </a:spcAft>
              <a:buClr>
                <a:srgbClr val="6B6F76"/>
              </a:buClr>
              <a:buSzPts val="1100"/>
              <a:buFont typeface="Calibri"/>
              <a:buNone/>
            </a:pPr>
            <a:r>
              <a:rPr i="1" lang="en-US" sz="1100">
                <a:solidFill>
                  <a:srgbClr val="6B6F76"/>
                </a:solidFill>
                <a:latin typeface="Calibri"/>
                <a:ea typeface="Calibri"/>
                <a:cs typeface="Calibri"/>
                <a:sym typeface="Calibri"/>
              </a:rPr>
              <a:t>Times listed in this slide refer to the total pipeline time for the scenario generation: transformer asset class, 50 scenarios</a:t>
            </a:r>
            <a:endParaRPr i="1" sz="1100">
              <a:solidFill>
                <a:srgbClr val="6B6F76"/>
              </a:solidFill>
              <a:latin typeface="Calibri"/>
              <a:ea typeface="Calibri"/>
              <a:cs typeface="Calibri"/>
              <a:sym typeface="Calibri"/>
            </a:endParaRPr>
          </a:p>
        </p:txBody>
      </p:sp>
      <p:sp>
        <p:nvSpPr>
          <p:cNvPr id="201" name="Google Shape;201;p6"/>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02" name="Google Shape;202;p6"/>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6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7"/>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Before vs. After</a:t>
            </a:r>
            <a:endParaRPr b="0" i="0" sz="3200" u="none" cap="none" strike="noStrike">
              <a:solidFill>
                <a:schemeClr val="dk1"/>
              </a:solidFill>
              <a:latin typeface="Calibri"/>
              <a:ea typeface="Calibri"/>
              <a:cs typeface="Calibri"/>
              <a:sym typeface="Calibri"/>
            </a:endParaRPr>
          </a:p>
        </p:txBody>
      </p:sp>
      <p:cxnSp>
        <p:nvCxnSpPr>
          <p:cNvPr id="209" name="Google Shape;209;p7"/>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10" name="Google Shape;210;p7"/>
          <p:cNvSpPr/>
          <p:nvPr/>
        </p:nvSpPr>
        <p:spPr>
          <a:xfrm>
            <a:off x="9018272" y="2286000"/>
            <a:ext cx="2777400" cy="23805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Tables report per-phase and total pipeline times for the baseline and the optimized variants.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Caching optimization contributes the most improvement. Phase 1 dominates baseline which is </a:t>
            </a:r>
            <a:r>
              <a:rPr b="1" lang="en-US" sz="1300">
                <a:solidFill>
                  <a:srgbClr val="1A1A1A"/>
                </a:solidFill>
                <a:latin typeface="Calibri"/>
                <a:ea typeface="Calibri"/>
                <a:cs typeface="Calibri"/>
                <a:sym typeface="Calibri"/>
              </a:rPr>
              <a:t>80-96% of total (almost 6 to 8 mins)</a:t>
            </a:r>
            <a:r>
              <a:rPr lang="en-US" sz="1300">
                <a:solidFill>
                  <a:srgbClr val="1A1A1A"/>
                </a:solidFill>
                <a:latin typeface="Calibri"/>
                <a:ea typeface="Calibri"/>
                <a:cs typeface="Calibri"/>
                <a:sym typeface="Calibri"/>
              </a:rPr>
              <a:t>. Caching eliminates it entirely on warm runs as shown in the table on the right.</a:t>
            </a:r>
            <a:endParaRPr b="0" i="0" sz="1300" u="none" cap="none" strike="noStrike">
              <a:solidFill>
                <a:schemeClr val="dk1"/>
              </a:solidFill>
              <a:latin typeface="Calibri"/>
              <a:ea typeface="Calibri"/>
              <a:cs typeface="Calibri"/>
              <a:sym typeface="Calibri"/>
            </a:endParaRPr>
          </a:p>
        </p:txBody>
      </p:sp>
      <p:sp>
        <p:nvSpPr>
          <p:cNvPr id="211" name="Google Shape;211;p7"/>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12" name="Google Shape;212;p7"/>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7 / 14</a:t>
            </a:r>
            <a:endParaRPr b="0" i="0" sz="1000" u="none" cap="none" strike="noStrike">
              <a:solidFill>
                <a:schemeClr val="dk1"/>
              </a:solidFill>
              <a:latin typeface="Calibri"/>
              <a:ea typeface="Calibri"/>
              <a:cs typeface="Calibri"/>
              <a:sym typeface="Calibri"/>
            </a:endParaRPr>
          </a:p>
        </p:txBody>
      </p:sp>
      <p:graphicFrame>
        <p:nvGraphicFramePr>
          <p:cNvPr id="213" name="Google Shape;213;p7"/>
          <p:cNvGraphicFramePr/>
          <p:nvPr/>
        </p:nvGraphicFramePr>
        <p:xfrm>
          <a:off x="637613" y="2191550"/>
          <a:ext cx="3000000" cy="3000000"/>
        </p:xfrm>
        <a:graphic>
          <a:graphicData uri="http://schemas.openxmlformats.org/drawingml/2006/table">
            <a:tbl>
              <a:tblPr>
                <a:noFill/>
                <a:tableStyleId>{E6E636AC-44C4-4649-99DD-828383678349}</a:tableStyleId>
              </a:tblPr>
              <a:tblGrid>
                <a:gridCol w="1753825"/>
                <a:gridCol w="652525"/>
                <a:gridCol w="785700"/>
                <a:gridCol w="785675"/>
              </a:tblGrid>
              <a:tr h="3720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N=10</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N=25</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N=50</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0: Get Tool Desc</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2.4</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2.5</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2.2</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1: Build Asset Profile</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448.2</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338.9</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325.7</a:t>
                      </a:r>
                      <a:endParaRPr sz="1100" u="none" cap="none" strike="noStrike">
                        <a:latin typeface="Calibri"/>
                        <a:ea typeface="Calibri"/>
                        <a:cs typeface="Calibri"/>
                        <a:sym typeface="Calibri"/>
                      </a:endParaRPr>
                    </a:p>
                  </a:txBody>
                  <a:tcPr marT="91425" marB="91425" marR="91425" marL="91425"/>
                </a:tc>
              </a:tr>
              <a:tr h="30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2: Allocate Budget</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2.05</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3.3</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2.3</a:t>
                      </a:r>
                      <a:endParaRPr sz="1100" u="none" cap="none" strike="noStrike">
                        <a:latin typeface="Calibri"/>
                        <a:ea typeface="Calibri"/>
                        <a:cs typeface="Calibri"/>
                        <a:sym typeface="Calibri"/>
                      </a:endParaRPr>
                    </a:p>
                  </a:txBody>
                  <a:tcPr marT="91425" marB="91425" marR="91425" marL="91425"/>
                </a:tc>
              </a:tr>
              <a:tr h="3276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3: Single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11.4</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34.7</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38.8</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4: Multi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4.05</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20.6</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29.3</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Total</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468.2</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400.3</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408.4</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14" name="Google Shape;214;p7"/>
          <p:cNvSpPr/>
          <p:nvPr/>
        </p:nvSpPr>
        <p:spPr>
          <a:xfrm>
            <a:off x="457195" y="1640486"/>
            <a:ext cx="39777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4155"/>
              </a:buClr>
              <a:buSzPts val="1300"/>
              <a:buFont typeface="Calibri"/>
              <a:buNone/>
            </a:pPr>
            <a:r>
              <a:rPr b="1" i="0" lang="en-US" sz="1500" u="none" cap="none" strike="noStrike">
                <a:solidFill>
                  <a:srgbClr val="000000"/>
                </a:solidFill>
                <a:latin typeface="Calibri"/>
                <a:ea typeface="Calibri"/>
                <a:cs typeface="Calibri"/>
                <a:sym typeface="Calibri"/>
              </a:rPr>
              <a:t>Baseline (Unoptimized) (Time in seconds)</a:t>
            </a:r>
            <a:endParaRPr b="0" i="0" sz="1500" u="none" cap="none" strike="noStrike">
              <a:solidFill>
                <a:srgbClr val="000000"/>
              </a:solidFill>
              <a:latin typeface="Calibri"/>
              <a:ea typeface="Calibri"/>
              <a:cs typeface="Calibri"/>
              <a:sym typeface="Calibri"/>
            </a:endParaRPr>
          </a:p>
        </p:txBody>
      </p:sp>
      <p:sp>
        <p:nvSpPr>
          <p:cNvPr id="215" name="Google Shape;215;p7"/>
          <p:cNvSpPr/>
          <p:nvPr/>
        </p:nvSpPr>
        <p:spPr>
          <a:xfrm>
            <a:off x="5040583" y="1640473"/>
            <a:ext cx="39777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4155"/>
              </a:buClr>
              <a:buSzPts val="1300"/>
              <a:buFont typeface="Calibri"/>
              <a:buNone/>
            </a:pPr>
            <a:r>
              <a:rPr b="1" i="0" lang="en-US" sz="1500" u="none" cap="none" strike="noStrike">
                <a:solidFill>
                  <a:srgbClr val="000000"/>
                </a:solidFill>
                <a:latin typeface="Calibri"/>
                <a:ea typeface="Calibri"/>
                <a:cs typeface="Calibri"/>
                <a:sym typeface="Calibri"/>
              </a:rPr>
              <a:t>Optimized (with warm cache) (Time in seconds)</a:t>
            </a:r>
            <a:endParaRPr b="0" i="0" sz="1500" u="none" cap="none" strike="noStrike">
              <a:solidFill>
                <a:srgbClr val="000000"/>
              </a:solidFill>
              <a:latin typeface="Calibri"/>
              <a:ea typeface="Calibri"/>
              <a:cs typeface="Calibri"/>
              <a:sym typeface="Calibri"/>
            </a:endParaRPr>
          </a:p>
        </p:txBody>
      </p:sp>
      <p:graphicFrame>
        <p:nvGraphicFramePr>
          <p:cNvPr id="216" name="Google Shape;216;p7"/>
          <p:cNvGraphicFramePr/>
          <p:nvPr/>
        </p:nvGraphicFramePr>
        <p:xfrm>
          <a:off x="4929813" y="2238813"/>
          <a:ext cx="3000000" cy="3000000"/>
        </p:xfrm>
        <a:graphic>
          <a:graphicData uri="http://schemas.openxmlformats.org/drawingml/2006/table">
            <a:tbl>
              <a:tblPr>
                <a:noFill/>
                <a:tableStyleId>{E6E636AC-44C4-4649-99DD-828383678349}</a:tableStyleId>
              </a:tblPr>
              <a:tblGrid>
                <a:gridCol w="1753825"/>
                <a:gridCol w="652525"/>
                <a:gridCol w="785700"/>
                <a:gridCol w="785675"/>
              </a:tblGrid>
              <a:tr h="3720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N=10</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N=25</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N=50</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0: Get Tool Desc</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1.5</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2.4</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2.1</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1: Build Asset Profile</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tc>
              </a:tr>
              <a:tr h="30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2: Allocate Budget</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tc>
              </a:tr>
              <a:tr h="3276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3: Single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8.2</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14.8</a:t>
                      </a:r>
                      <a:endParaRPr b="1"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15.9</a:t>
                      </a:r>
                      <a:endParaRPr b="1"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4: Multi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10.7</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17.2</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18.1</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Total</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13.6</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19.8</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50.8</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g39a876354f6_7_9"/>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Before vs. After</a:t>
            </a:r>
            <a:endParaRPr b="0" i="0" sz="3200" u="none" cap="none" strike="noStrike">
              <a:solidFill>
                <a:schemeClr val="dk1"/>
              </a:solidFill>
              <a:latin typeface="Calibri"/>
              <a:ea typeface="Calibri"/>
              <a:cs typeface="Calibri"/>
              <a:sym typeface="Calibri"/>
            </a:endParaRPr>
          </a:p>
        </p:txBody>
      </p:sp>
      <p:cxnSp>
        <p:nvCxnSpPr>
          <p:cNvPr id="223" name="Google Shape;223;g39a876354f6_7_9"/>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224" name="Google Shape;224;g39a876354f6_7_9"/>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25" name="Google Shape;225;g39a876354f6_7_9"/>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7 / 14</a:t>
            </a:r>
            <a:endParaRPr b="0" i="0" sz="1000" u="none" cap="none" strike="noStrike">
              <a:solidFill>
                <a:schemeClr val="dk1"/>
              </a:solidFill>
              <a:latin typeface="Calibri"/>
              <a:ea typeface="Calibri"/>
              <a:cs typeface="Calibri"/>
              <a:sym typeface="Calibri"/>
            </a:endParaRPr>
          </a:p>
        </p:txBody>
      </p:sp>
      <p:sp>
        <p:nvSpPr>
          <p:cNvPr id="226" name="Google Shape;226;g39a876354f6_7_9"/>
          <p:cNvSpPr/>
          <p:nvPr/>
        </p:nvSpPr>
        <p:spPr>
          <a:xfrm>
            <a:off x="457200" y="1442924"/>
            <a:ext cx="4284600" cy="594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34155"/>
              </a:buClr>
              <a:buSzPts val="1300"/>
              <a:buFont typeface="Calibri"/>
              <a:buNone/>
            </a:pPr>
            <a:r>
              <a:rPr b="1" lang="en-US" sz="1500">
                <a:solidFill>
                  <a:schemeClr val="dk1"/>
                </a:solidFill>
                <a:latin typeface="Calibri"/>
                <a:ea typeface="Calibri"/>
                <a:cs typeface="Calibri"/>
                <a:sym typeface="Calibri"/>
              </a:rPr>
              <a:t>Pipeline Time vs. Number of Domains (Time in seconds)</a:t>
            </a:r>
            <a:endParaRPr b="1" sz="1500">
              <a:latin typeface="Calibri"/>
              <a:ea typeface="Calibri"/>
              <a:cs typeface="Calibri"/>
              <a:sym typeface="Calibri"/>
            </a:endParaRPr>
          </a:p>
        </p:txBody>
      </p:sp>
      <p:graphicFrame>
        <p:nvGraphicFramePr>
          <p:cNvPr id="227" name="Google Shape;227;g39a876354f6_7_9"/>
          <p:cNvGraphicFramePr/>
          <p:nvPr/>
        </p:nvGraphicFramePr>
        <p:xfrm>
          <a:off x="386138" y="2286000"/>
          <a:ext cx="3000000" cy="3000000"/>
        </p:xfrm>
        <a:graphic>
          <a:graphicData uri="http://schemas.openxmlformats.org/drawingml/2006/table">
            <a:tbl>
              <a:tblPr>
                <a:noFill/>
                <a:tableStyleId>{E6E636AC-44C4-4649-99DD-828383678349}</a:tableStyleId>
              </a:tblPr>
              <a:tblGrid>
                <a:gridCol w="1720675"/>
                <a:gridCol w="640175"/>
                <a:gridCol w="770850"/>
                <a:gridCol w="572250"/>
                <a:gridCol w="651650"/>
              </a:tblGrid>
              <a:tr h="3720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C=1</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C=2</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C=3</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C=5</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0: Get Tool Desc</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2.18</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2.15</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2.18</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2.45</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1: Build Asset Profile</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0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2: Allocate Budget</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76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3: Single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43.88</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22.29</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17.66</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17.62</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4: Multi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46.07</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54.51</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44.44</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27.22</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Total</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87.39</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78.95</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64.29</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47.30</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28" name="Google Shape;228;g39a876354f6_7_9"/>
          <p:cNvGraphicFramePr/>
          <p:nvPr/>
        </p:nvGraphicFramePr>
        <p:xfrm>
          <a:off x="5186738" y="2286000"/>
          <a:ext cx="3000000" cy="3000000"/>
        </p:xfrm>
        <a:graphic>
          <a:graphicData uri="http://schemas.openxmlformats.org/drawingml/2006/table">
            <a:tbl>
              <a:tblPr>
                <a:noFill/>
                <a:tableStyleId>{E6E636AC-44C4-4649-99DD-828383678349}</a:tableStyleId>
              </a:tblPr>
              <a:tblGrid>
                <a:gridCol w="1720675"/>
                <a:gridCol w="640175"/>
                <a:gridCol w="770850"/>
              </a:tblGrid>
              <a:tr h="3720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Cold </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Warm</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0: Get Tool Desc</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2.4</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2.2</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1: Build Asset Profile</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247.4</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0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2: Allocate Budget</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76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3: Single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17.30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17.23</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4: Multi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35.34</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45.57</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Total</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302.47</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65.09</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29" name="Google Shape;229;g39a876354f6_7_9"/>
          <p:cNvSpPr/>
          <p:nvPr/>
        </p:nvSpPr>
        <p:spPr>
          <a:xfrm>
            <a:off x="5186750" y="1440363"/>
            <a:ext cx="4037400" cy="59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300"/>
              <a:buFont typeface="Calibri"/>
              <a:buNone/>
            </a:pPr>
            <a:r>
              <a:rPr b="1" i="0" lang="en-US" sz="1500" u="none" cap="none" strike="noStrike">
                <a:solidFill>
                  <a:srgbClr val="000000"/>
                </a:solidFill>
                <a:latin typeface="Calibri"/>
                <a:ea typeface="Calibri"/>
                <a:cs typeface="Calibri"/>
                <a:sym typeface="Calibri"/>
              </a:rPr>
              <a:t>Cold vs Warm Cache (Optimized Variant) (Time in seconds)</a:t>
            </a:r>
            <a:endParaRPr b="0" i="0" sz="1500" u="none" cap="none" strike="noStrike">
              <a:solidFill>
                <a:srgbClr val="000000"/>
              </a:solidFill>
              <a:latin typeface="Calibri"/>
              <a:ea typeface="Calibri"/>
              <a:cs typeface="Calibri"/>
              <a:sym typeface="Calibri"/>
            </a:endParaRPr>
          </a:p>
        </p:txBody>
      </p:sp>
      <p:sp>
        <p:nvSpPr>
          <p:cNvPr id="230" name="Google Shape;230;g39a876354f6_7_9"/>
          <p:cNvSpPr txBox="1"/>
          <p:nvPr/>
        </p:nvSpPr>
        <p:spPr>
          <a:xfrm>
            <a:off x="386150" y="5009950"/>
            <a:ext cx="4355700" cy="11904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0"/>
              </a:spcAft>
              <a:buNone/>
            </a:pPr>
            <a:r>
              <a:rPr lang="en-US" sz="1300">
                <a:solidFill>
                  <a:srgbClr val="1A1A1A"/>
                </a:solidFill>
                <a:latin typeface="Calibri"/>
                <a:ea typeface="Calibri"/>
                <a:cs typeface="Calibri"/>
                <a:sym typeface="Calibri"/>
              </a:rPr>
              <a:t>C controls how many of the 5 domains {iot, fmsr, tsfm, wo, vibration} scenarios are generated in parallel.  </a:t>
            </a:r>
            <a:endParaRPr sz="1300">
              <a:solidFill>
                <a:srgbClr val="1A1A1A"/>
              </a:solidFill>
              <a:latin typeface="Calibri"/>
              <a:ea typeface="Calibri"/>
              <a:cs typeface="Calibri"/>
              <a:sym typeface="Calibri"/>
            </a:endParaRPr>
          </a:p>
          <a:p>
            <a:pPr indent="0" lvl="0" marL="0" rtl="0" algn="l">
              <a:spcBef>
                <a:spcPts val="800"/>
              </a:spcBef>
              <a:spcAft>
                <a:spcPts val="0"/>
              </a:spcAft>
              <a:buNone/>
            </a:pPr>
            <a:r>
              <a:rPr lang="en-US" sz="1300">
                <a:solidFill>
                  <a:srgbClr val="1A1A1A"/>
                </a:solidFill>
                <a:latin typeface="Calibri"/>
                <a:ea typeface="Calibri"/>
                <a:cs typeface="Calibri"/>
                <a:sym typeface="Calibri"/>
              </a:rPr>
              <a:t>Total speedup: </a:t>
            </a:r>
            <a:r>
              <a:rPr b="1" lang="en-US" sz="1300">
                <a:solidFill>
                  <a:srgbClr val="1A1A1A"/>
                </a:solidFill>
                <a:latin typeface="Calibri"/>
                <a:ea typeface="Calibri"/>
                <a:cs typeface="Calibri"/>
                <a:sym typeface="Calibri"/>
              </a:rPr>
              <a:t>1.85X from C = 1→ C = 5.</a:t>
            </a:r>
            <a:endParaRPr b="1" sz="1300">
              <a:solidFill>
                <a:srgbClr val="1A1A1A"/>
              </a:solidFill>
              <a:latin typeface="Calibri"/>
              <a:ea typeface="Calibri"/>
              <a:cs typeface="Calibri"/>
              <a:sym typeface="Calibri"/>
            </a:endParaRPr>
          </a:p>
          <a:p>
            <a:pPr indent="0" lvl="0" marL="0" rtl="0" algn="l">
              <a:spcBef>
                <a:spcPts val="800"/>
              </a:spcBef>
              <a:spcAft>
                <a:spcPts val="0"/>
              </a:spcAft>
              <a:buNone/>
            </a:pPr>
            <a:r>
              <a:rPr lang="en-US" sz="1300">
                <a:solidFill>
                  <a:srgbClr val="1A1A1A"/>
                </a:solidFill>
                <a:latin typeface="Calibri"/>
                <a:ea typeface="Calibri"/>
                <a:cs typeface="Calibri"/>
                <a:sym typeface="Calibri"/>
              </a:rPr>
              <a:t>Phase 3 speedup: </a:t>
            </a:r>
            <a:r>
              <a:rPr b="1" lang="en-US" sz="1300">
                <a:solidFill>
                  <a:srgbClr val="1A1A1A"/>
                </a:solidFill>
                <a:latin typeface="Calibri"/>
                <a:ea typeface="Calibri"/>
                <a:cs typeface="Calibri"/>
                <a:sym typeface="Calibri"/>
              </a:rPr>
              <a:t>43.88 sec (C=1) to 17.62 sec (C=5)</a:t>
            </a:r>
            <a:endParaRPr b="1" sz="1300">
              <a:solidFill>
                <a:srgbClr val="1A1A1A"/>
              </a:solidFill>
              <a:latin typeface="Calibri"/>
              <a:ea typeface="Calibri"/>
              <a:cs typeface="Calibri"/>
              <a:sym typeface="Calibri"/>
            </a:endParaRPr>
          </a:p>
        </p:txBody>
      </p:sp>
      <p:sp>
        <p:nvSpPr>
          <p:cNvPr id="231" name="Google Shape;231;g39a876354f6_7_9"/>
          <p:cNvSpPr txBox="1"/>
          <p:nvPr/>
        </p:nvSpPr>
        <p:spPr>
          <a:xfrm>
            <a:off x="5186750" y="5012500"/>
            <a:ext cx="68262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Calibri"/>
                <a:ea typeface="Calibri"/>
                <a:cs typeface="Calibri"/>
                <a:sym typeface="Calibri"/>
              </a:rPr>
              <a:t>We compare two runs of the optimized variant with identical parameters (N=50, C=3) differing only in cache state. </a:t>
            </a:r>
            <a:endParaRPr sz="1300">
              <a:latin typeface="Calibri"/>
              <a:ea typeface="Calibri"/>
              <a:cs typeface="Calibri"/>
              <a:sym typeface="Calibri"/>
            </a:endParaRPr>
          </a:p>
          <a:p>
            <a:pPr indent="0" lvl="0" marL="0" rtl="0" algn="l">
              <a:spcBef>
                <a:spcPts val="0"/>
              </a:spcBef>
              <a:spcAft>
                <a:spcPts val="0"/>
              </a:spcAft>
              <a:buNone/>
            </a:pPr>
            <a:r>
              <a:rPr lang="en-US" sz="1300">
                <a:latin typeface="Calibri"/>
                <a:ea typeface="Calibri"/>
                <a:cs typeface="Calibri"/>
                <a:sym typeface="Calibri"/>
              </a:rPr>
              <a:t>The cold run forces a full asset profile rebuild, the warm run reads the profile in the cache.</a:t>
            </a:r>
            <a:endParaRPr sz="1300">
              <a:latin typeface="Calibri"/>
              <a:ea typeface="Calibri"/>
              <a:cs typeface="Calibri"/>
              <a:sym typeface="Calibri"/>
            </a:endParaRPr>
          </a:p>
          <a:p>
            <a:pPr indent="0" lvl="0" marL="0" rtl="0" algn="l">
              <a:spcBef>
                <a:spcPts val="0"/>
              </a:spcBef>
              <a:spcAft>
                <a:spcPts val="0"/>
              </a:spcAft>
              <a:buNone/>
            </a:pPr>
            <a:r>
              <a:rPr lang="en-US" sz="1300">
                <a:latin typeface="Calibri"/>
                <a:ea typeface="Calibri"/>
                <a:cs typeface="Calibri"/>
                <a:sym typeface="Calibri"/>
              </a:rPr>
              <a:t>The disk cache eliminates Phase 1 entirely on warm runs </a:t>
            </a:r>
            <a:r>
              <a:rPr b="1" lang="en-US" sz="1300">
                <a:latin typeface="Calibri"/>
                <a:ea typeface="Calibri"/>
                <a:cs typeface="Calibri"/>
                <a:sym typeface="Calibri"/>
              </a:rPr>
              <a:t>(247.4 s to 0 s)</a:t>
            </a:r>
            <a:r>
              <a:rPr lang="en-US" sz="1300">
                <a:latin typeface="Calibri"/>
                <a:ea typeface="Calibri"/>
                <a:cs typeface="Calibri"/>
                <a:sym typeface="Calibri"/>
              </a:rPr>
              <a:t>, saving over </a:t>
            </a:r>
            <a:r>
              <a:rPr b="1" lang="en-US" sz="1300">
                <a:latin typeface="Calibri"/>
                <a:ea typeface="Calibri"/>
                <a:cs typeface="Calibri"/>
                <a:sym typeface="Calibri"/>
              </a:rPr>
              <a:t>four minutes</a:t>
            </a:r>
            <a:r>
              <a:rPr lang="en-US" sz="1300">
                <a:latin typeface="Calibri"/>
                <a:ea typeface="Calibri"/>
                <a:cs typeface="Calibri"/>
                <a:sym typeface="Calibri"/>
              </a:rPr>
              <a:t> per run. The full pipeline drops from </a:t>
            </a:r>
            <a:r>
              <a:rPr b="1" lang="en-US" sz="1300">
                <a:latin typeface="Calibri"/>
                <a:ea typeface="Calibri"/>
                <a:cs typeface="Calibri"/>
                <a:sym typeface="Calibri"/>
              </a:rPr>
              <a:t>302.5 s to 65.1 s: a 4.6X speedup</a:t>
            </a:r>
            <a:endParaRPr b="1" sz="13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g39a876354f6_7_32"/>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Before vs. After</a:t>
            </a:r>
            <a:endParaRPr b="0" i="0" sz="3200" u="none" cap="none" strike="noStrike">
              <a:solidFill>
                <a:schemeClr val="dk1"/>
              </a:solidFill>
              <a:latin typeface="Calibri"/>
              <a:ea typeface="Calibri"/>
              <a:cs typeface="Calibri"/>
              <a:sym typeface="Calibri"/>
            </a:endParaRPr>
          </a:p>
        </p:txBody>
      </p:sp>
      <p:cxnSp>
        <p:nvCxnSpPr>
          <p:cNvPr id="238" name="Google Shape;238;g39a876354f6_7_32"/>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239" name="Google Shape;239;g39a876354f6_7_32"/>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40" name="Google Shape;240;g39a876354f6_7_32"/>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7 / 14</a:t>
            </a:r>
            <a:endParaRPr b="0" i="0" sz="1000" u="none" cap="none" strike="noStrike">
              <a:solidFill>
                <a:schemeClr val="dk1"/>
              </a:solidFill>
              <a:latin typeface="Calibri"/>
              <a:ea typeface="Calibri"/>
              <a:cs typeface="Calibri"/>
              <a:sym typeface="Calibri"/>
            </a:endParaRPr>
          </a:p>
        </p:txBody>
      </p:sp>
      <p:sp>
        <p:nvSpPr>
          <p:cNvPr id="241" name="Google Shape;241;g39a876354f6_7_32"/>
          <p:cNvSpPr/>
          <p:nvPr/>
        </p:nvSpPr>
        <p:spPr>
          <a:xfrm>
            <a:off x="457200" y="1442925"/>
            <a:ext cx="5282700" cy="64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34155"/>
              </a:buClr>
              <a:buSzPts val="1300"/>
              <a:buFont typeface="Calibri"/>
              <a:buNone/>
            </a:pPr>
            <a:r>
              <a:rPr b="1" lang="en-US" sz="1500">
                <a:latin typeface="Calibri"/>
                <a:ea typeface="Calibri"/>
                <a:cs typeface="Calibri"/>
                <a:sym typeface="Calibri"/>
              </a:rPr>
              <a:t>Pipeline time (seconds): Baseline vs. Optimised, Both Cold Cache.</a:t>
            </a:r>
            <a:endParaRPr b="1" sz="1500">
              <a:solidFill>
                <a:schemeClr val="dk1"/>
              </a:solidFill>
              <a:latin typeface="Calibri"/>
              <a:ea typeface="Calibri"/>
              <a:cs typeface="Calibri"/>
              <a:sym typeface="Calibri"/>
            </a:endParaRPr>
          </a:p>
        </p:txBody>
      </p:sp>
      <p:graphicFrame>
        <p:nvGraphicFramePr>
          <p:cNvPr id="242" name="Google Shape;242;g39a876354f6_7_32"/>
          <p:cNvGraphicFramePr/>
          <p:nvPr/>
        </p:nvGraphicFramePr>
        <p:xfrm>
          <a:off x="457188" y="2137525"/>
          <a:ext cx="3000000" cy="3000000"/>
        </p:xfrm>
        <a:graphic>
          <a:graphicData uri="http://schemas.openxmlformats.org/drawingml/2006/table">
            <a:tbl>
              <a:tblPr>
                <a:noFill/>
                <a:tableStyleId>{E6E636AC-44C4-4649-99DD-828383678349}</a:tableStyleId>
              </a:tblPr>
              <a:tblGrid>
                <a:gridCol w="1808575"/>
                <a:gridCol w="756975"/>
                <a:gridCol w="989050"/>
              </a:tblGrid>
              <a:tr h="3720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Calibri"/>
                          <a:ea typeface="Calibri"/>
                          <a:cs typeface="Calibri"/>
                          <a:sym typeface="Calibri"/>
                        </a:rPr>
                        <a:t>Baseline</a:t>
                      </a:r>
                      <a:r>
                        <a:rPr lang="en-US" sz="11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Calibri"/>
                          <a:ea typeface="Calibri"/>
                          <a:cs typeface="Calibri"/>
                          <a:sym typeface="Calibri"/>
                        </a:rPr>
                        <a:t>Optimized</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0: Get Tool Desc</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2.20</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2.42</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1: Build Asset Profile</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325.70</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216.85</a:t>
                      </a:r>
                      <a:endParaRPr b="1"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0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2: Allocate Budget</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2.34</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2.56</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76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3: Single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38.83</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14.65</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4: Multi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39.92</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32.46</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Total</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408.43</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268.96</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43" name="Google Shape;243;g39a876354f6_7_32"/>
          <p:cNvSpPr/>
          <p:nvPr/>
        </p:nvSpPr>
        <p:spPr>
          <a:xfrm>
            <a:off x="4437670" y="2137537"/>
            <a:ext cx="1188600" cy="2925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500" u="none" cap="none" strike="noStrike">
                <a:solidFill>
                  <a:srgbClr val="FFFFFF"/>
                </a:solidFill>
                <a:latin typeface="Calibri"/>
                <a:ea typeface="Calibri"/>
                <a:cs typeface="Calibri"/>
                <a:sym typeface="Calibri"/>
              </a:rPr>
              <a:t>Phase 1</a:t>
            </a:r>
            <a:endParaRPr b="1" i="0" sz="1500" u="none" cap="none" strike="noStrike">
              <a:solidFill>
                <a:srgbClr val="FFFFFF"/>
              </a:solidFill>
              <a:latin typeface="Calibri"/>
              <a:ea typeface="Calibri"/>
              <a:cs typeface="Calibri"/>
              <a:sym typeface="Calibri"/>
            </a:endParaRPr>
          </a:p>
        </p:txBody>
      </p:sp>
      <p:sp>
        <p:nvSpPr>
          <p:cNvPr id="244" name="Google Shape;244;g39a876354f6_7_32"/>
          <p:cNvSpPr/>
          <p:nvPr/>
        </p:nvSpPr>
        <p:spPr>
          <a:xfrm>
            <a:off x="4437670" y="2975737"/>
            <a:ext cx="1188600" cy="2925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500" u="none" cap="none" strike="noStrike">
                <a:solidFill>
                  <a:srgbClr val="FFFFFF"/>
                </a:solidFill>
                <a:latin typeface="Calibri"/>
                <a:ea typeface="Calibri"/>
                <a:cs typeface="Calibri"/>
                <a:sym typeface="Calibri"/>
              </a:rPr>
              <a:t>Phase 3</a:t>
            </a:r>
            <a:endParaRPr b="1" i="0" sz="1500" u="none" cap="none" strike="noStrike">
              <a:solidFill>
                <a:srgbClr val="FFFFFF"/>
              </a:solidFill>
              <a:latin typeface="Calibri"/>
              <a:ea typeface="Calibri"/>
              <a:cs typeface="Calibri"/>
              <a:sym typeface="Calibri"/>
            </a:endParaRPr>
          </a:p>
        </p:txBody>
      </p:sp>
      <p:sp>
        <p:nvSpPr>
          <p:cNvPr id="245" name="Google Shape;245;g39a876354f6_7_32"/>
          <p:cNvSpPr/>
          <p:nvPr/>
        </p:nvSpPr>
        <p:spPr>
          <a:xfrm>
            <a:off x="6245350" y="2137525"/>
            <a:ext cx="3340800" cy="437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I/O concurrency (thread pool) → 33% faster even without cache</a:t>
            </a:r>
            <a:endParaRPr b="0" i="0" sz="1200" u="none" cap="none" strike="noStrike">
              <a:solidFill>
                <a:srgbClr val="000000"/>
              </a:solidFill>
              <a:latin typeface="Calibri"/>
              <a:ea typeface="Calibri"/>
              <a:cs typeface="Calibri"/>
              <a:sym typeface="Calibri"/>
            </a:endParaRPr>
          </a:p>
        </p:txBody>
      </p:sp>
      <p:sp>
        <p:nvSpPr>
          <p:cNvPr id="246" name="Google Shape;246;g39a876354f6_7_32"/>
          <p:cNvSpPr/>
          <p:nvPr/>
        </p:nvSpPr>
        <p:spPr>
          <a:xfrm>
            <a:off x="6245350" y="2975725"/>
            <a:ext cx="3340800" cy="38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US" sz="1200" u="none" cap="none" strike="noStrike">
                <a:solidFill>
                  <a:srgbClr val="000000"/>
                </a:solidFill>
                <a:latin typeface="Calibri"/>
                <a:ea typeface="Calibri"/>
                <a:cs typeface="Calibri"/>
                <a:sym typeface="Calibri"/>
              </a:rPr>
              <a:t>Phase 3 shows the largest relative gain: a 2.65× speedup from parallel focus execution</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p:txBody>
      </p:sp>
      <p:sp>
        <p:nvSpPr>
          <p:cNvPr id="247" name="Google Shape;247;g39a876354f6_7_32"/>
          <p:cNvSpPr/>
          <p:nvPr/>
        </p:nvSpPr>
        <p:spPr>
          <a:xfrm>
            <a:off x="457200" y="5055225"/>
            <a:ext cx="8595300" cy="641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1" lang="en-US" sz="1000" u="none" cap="none" strike="noStrike">
                <a:solidFill>
                  <a:srgbClr val="000000"/>
                </a:solidFill>
                <a:latin typeface="Calibri"/>
                <a:ea typeface="Calibri"/>
                <a:cs typeface="Calibri"/>
                <a:sym typeface="Calibri"/>
              </a:rPr>
              <a:t>Phase 1 improves by 33% (325.7 s → 216.9 s) through I/O concurrency.</a:t>
            </a:r>
            <a:endParaRPr b="0" i="1"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1" lang="en-US" sz="1000" u="none" cap="none" strike="noStrike">
                <a:solidFill>
                  <a:srgbClr val="000000"/>
                </a:solidFill>
                <a:latin typeface="Calibri"/>
                <a:ea typeface="Calibri"/>
                <a:cs typeface="Calibri"/>
                <a:sym typeface="Calibri"/>
              </a:rPr>
              <a:t>The baseline executes PDF downloads, database queries, and literature searches sequentially.</a:t>
            </a:r>
            <a:endParaRPr b="0" i="1"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1" lang="en-US" sz="1000" u="none" cap="none" strike="noStrike">
                <a:solidFill>
                  <a:srgbClr val="000000"/>
                </a:solidFill>
                <a:latin typeface="Calibri"/>
                <a:ea typeface="Calibri"/>
                <a:cs typeface="Calibri"/>
                <a:sym typeface="Calibri"/>
              </a:rPr>
              <a:t>The optimised module offloads each blocking call to a background thread pool, filling CPU-idle network-wait time with concurrent requests. </a:t>
            </a:r>
            <a:endParaRPr b="0" i="1" sz="10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8"/>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Profiler Evidence</a:t>
            </a:r>
            <a:endParaRPr b="0" i="0" sz="3200" u="none" cap="none" strike="noStrike">
              <a:solidFill>
                <a:schemeClr val="dk1"/>
              </a:solidFill>
              <a:latin typeface="Calibri"/>
              <a:ea typeface="Calibri"/>
              <a:cs typeface="Calibri"/>
              <a:sym typeface="Calibri"/>
            </a:endParaRPr>
          </a:p>
        </p:txBody>
      </p:sp>
      <p:cxnSp>
        <p:nvCxnSpPr>
          <p:cNvPr id="254" name="Google Shape;254;p8"/>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55" name="Google Shape;255;p8"/>
          <p:cNvSpPr/>
          <p:nvPr/>
        </p:nvSpPr>
        <p:spPr>
          <a:xfrm>
            <a:off x="458700" y="3615300"/>
            <a:ext cx="11274600" cy="1226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800"/>
              </a:spcBef>
              <a:spcAft>
                <a:spcPts val="0"/>
              </a:spcAft>
              <a:buClr>
                <a:srgbClr val="1A1A1A"/>
              </a:buClr>
              <a:buSzPts val="1300"/>
              <a:buFont typeface="Calibri"/>
              <a:buChar char="•"/>
            </a:pPr>
            <a:r>
              <a:rPr lang="en-US" sz="1300">
                <a:solidFill>
                  <a:schemeClr val="dk1"/>
                </a:solidFill>
                <a:latin typeface="Calibri"/>
                <a:ea typeface="Calibri"/>
                <a:cs typeface="Calibri"/>
                <a:sym typeface="Calibri"/>
              </a:rPr>
              <a:t>The total pipeline time for generating 50 scenarios for transformer asset using the baseline variant is over 6.5 minutes.</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Phase 1 dominates the most taking over 5 minutes. This is due to uncached academic retrieval, PDF fetching, and expensive LLM calls on every run.</a:t>
            </a:r>
            <a:endParaRPr sz="1300">
              <a:solidFill>
                <a:schemeClr val="dk1"/>
              </a:solidFill>
              <a:latin typeface="Calibri"/>
              <a:ea typeface="Calibri"/>
              <a:cs typeface="Calibri"/>
              <a:sym typeface="Calibri"/>
            </a:endParaRPr>
          </a:p>
        </p:txBody>
      </p:sp>
      <p:sp>
        <p:nvSpPr>
          <p:cNvPr id="256" name="Google Shape;256;p8"/>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57" name="Google Shape;257;p8"/>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8 / 14</a:t>
            </a:r>
            <a:endParaRPr b="0" i="0" sz="1000" u="none" cap="none" strike="noStrike">
              <a:solidFill>
                <a:schemeClr val="dk1"/>
              </a:solidFill>
              <a:latin typeface="Calibri"/>
              <a:ea typeface="Calibri"/>
              <a:cs typeface="Calibri"/>
              <a:sym typeface="Calibri"/>
            </a:endParaRPr>
          </a:p>
        </p:txBody>
      </p:sp>
      <p:pic>
        <p:nvPicPr>
          <p:cNvPr id="258" name="Google Shape;258;p8"/>
          <p:cNvPicPr preferRelativeResize="0"/>
          <p:nvPr/>
        </p:nvPicPr>
        <p:blipFill rotWithShape="1">
          <a:blip r:embed="rId3">
            <a:alphaModFix/>
          </a:blip>
          <a:srcRect b="0" l="0" r="5767" t="0"/>
          <a:stretch/>
        </p:blipFill>
        <p:spPr>
          <a:xfrm>
            <a:off x="457200" y="1821175"/>
            <a:ext cx="11201398" cy="1665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g39a876354f6_7_57"/>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Profiler Evidence</a:t>
            </a:r>
            <a:endParaRPr b="0" i="0" sz="3200" u="none" cap="none" strike="noStrike">
              <a:solidFill>
                <a:schemeClr val="dk1"/>
              </a:solidFill>
              <a:latin typeface="Calibri"/>
              <a:ea typeface="Calibri"/>
              <a:cs typeface="Calibri"/>
              <a:sym typeface="Calibri"/>
            </a:endParaRPr>
          </a:p>
        </p:txBody>
      </p:sp>
      <p:cxnSp>
        <p:nvCxnSpPr>
          <p:cNvPr id="265" name="Google Shape;265;g39a876354f6_7_57"/>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266" name="Google Shape;266;g39a876354f6_7_57"/>
          <p:cNvSpPr/>
          <p:nvPr/>
        </p:nvSpPr>
        <p:spPr>
          <a:xfrm>
            <a:off x="457200" y="3963175"/>
            <a:ext cx="11391300" cy="14307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800"/>
              </a:spcBef>
              <a:spcAft>
                <a:spcPts val="0"/>
              </a:spcAft>
              <a:buClr>
                <a:srgbClr val="1A1A1A"/>
              </a:buClr>
              <a:buSzPts val="1300"/>
              <a:buFont typeface="Calibri"/>
              <a:buChar char="•"/>
            </a:pPr>
            <a:r>
              <a:rPr lang="en-US" sz="1300">
                <a:solidFill>
                  <a:schemeClr val="dk1"/>
                </a:solidFill>
                <a:latin typeface="Calibri"/>
                <a:ea typeface="Calibri"/>
                <a:cs typeface="Calibri"/>
                <a:sym typeface="Calibri"/>
              </a:rPr>
              <a:t>The total pipeline time is reduced to just 40 sec after applying optimizations such as parallel scenario generation, caching and thread pool offloading.</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The phase 1 time which was the bottleneck in the baseline is now reduced to 0 sec.</a:t>
            </a:r>
            <a:endParaRPr sz="1300">
              <a:solidFill>
                <a:schemeClr val="dk1"/>
              </a:solidFill>
              <a:latin typeface="Calibri"/>
              <a:ea typeface="Calibri"/>
              <a:cs typeface="Calibri"/>
              <a:sym typeface="Calibri"/>
            </a:endParaRPr>
          </a:p>
        </p:txBody>
      </p:sp>
      <p:sp>
        <p:nvSpPr>
          <p:cNvPr id="267" name="Google Shape;267;g39a876354f6_7_57"/>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68" name="Google Shape;268;g39a876354f6_7_57"/>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8 / 14</a:t>
            </a:r>
            <a:endParaRPr b="0" i="0" sz="1000" u="none" cap="none" strike="noStrike">
              <a:solidFill>
                <a:schemeClr val="dk1"/>
              </a:solidFill>
              <a:latin typeface="Calibri"/>
              <a:ea typeface="Calibri"/>
              <a:cs typeface="Calibri"/>
              <a:sym typeface="Calibri"/>
            </a:endParaRPr>
          </a:p>
        </p:txBody>
      </p:sp>
      <p:pic>
        <p:nvPicPr>
          <p:cNvPr id="269" name="Google Shape;269;g39a876354f6_7_57"/>
          <p:cNvPicPr preferRelativeResize="0"/>
          <p:nvPr/>
        </p:nvPicPr>
        <p:blipFill>
          <a:blip r:embed="rId3">
            <a:alphaModFix/>
          </a:blip>
          <a:stretch>
            <a:fillRect/>
          </a:stretch>
        </p:blipFill>
        <p:spPr>
          <a:xfrm>
            <a:off x="457200" y="2079175"/>
            <a:ext cx="11274598" cy="14203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9"/>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Demo / Visualization</a:t>
            </a:r>
            <a:endParaRPr b="0" i="0" sz="3200" u="none" cap="none" strike="noStrike">
              <a:solidFill>
                <a:schemeClr val="dk1"/>
              </a:solidFill>
              <a:latin typeface="Calibri"/>
              <a:ea typeface="Calibri"/>
              <a:cs typeface="Calibri"/>
              <a:sym typeface="Calibri"/>
            </a:endParaRPr>
          </a:p>
        </p:txBody>
      </p:sp>
      <p:cxnSp>
        <p:nvCxnSpPr>
          <p:cNvPr id="276" name="Google Shape;276;p9"/>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77" name="Google Shape;277;p9"/>
          <p:cNvSpPr/>
          <p:nvPr/>
        </p:nvSpPr>
        <p:spPr>
          <a:xfrm>
            <a:off x="457200" y="1828800"/>
            <a:ext cx="11274552" cy="4114800"/>
          </a:xfrm>
          <a:prstGeom prst="rect">
            <a:avLst/>
          </a:prstGeom>
          <a:solidFill>
            <a:srgbClr val="FFFFFF"/>
          </a:solid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79" name="Google Shape;279;p9"/>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9 / 14</a:t>
            </a:r>
            <a:endParaRPr b="0" i="0" sz="1000" u="none" cap="none" strike="noStrike">
              <a:solidFill>
                <a:schemeClr val="dk1"/>
              </a:solidFill>
              <a:latin typeface="Calibri"/>
              <a:ea typeface="Calibri"/>
              <a:cs typeface="Calibri"/>
              <a:sym typeface="Calibri"/>
            </a:endParaRPr>
          </a:p>
        </p:txBody>
      </p:sp>
      <p:pic>
        <p:nvPicPr>
          <p:cNvPr id="280" name="Google Shape;280;p9" title="FinalDemo.mov">
            <a:hlinkClick r:id="rId3"/>
          </p:cNvPr>
          <p:cNvPicPr preferRelativeResize="0"/>
          <p:nvPr/>
        </p:nvPicPr>
        <p:blipFill>
          <a:blip r:embed="rId4">
            <a:alphaModFix/>
          </a:blip>
          <a:stretch>
            <a:fillRect/>
          </a:stretch>
        </p:blipFill>
        <p:spPr>
          <a:xfrm>
            <a:off x="3037249" y="1828800"/>
            <a:ext cx="5486400" cy="411480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10"/>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Lessons Learned</a:t>
            </a:r>
            <a:endParaRPr b="0" i="0" sz="3200" u="none" cap="none" strike="noStrike">
              <a:solidFill>
                <a:schemeClr val="dk1"/>
              </a:solidFill>
              <a:latin typeface="Calibri"/>
              <a:ea typeface="Calibri"/>
              <a:cs typeface="Calibri"/>
              <a:sym typeface="Calibri"/>
            </a:endParaRPr>
          </a:p>
        </p:txBody>
      </p:sp>
      <p:cxnSp>
        <p:nvCxnSpPr>
          <p:cNvPr id="287" name="Google Shape;287;p10"/>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88" name="Google Shape;288;p10"/>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What worked</a:t>
            </a:r>
            <a:endParaRPr b="0" i="0" sz="1600" u="none" cap="none" strike="noStrike">
              <a:solidFill>
                <a:schemeClr val="dk1"/>
              </a:solidFill>
              <a:latin typeface="Calibri"/>
              <a:ea typeface="Calibri"/>
              <a:cs typeface="Calibri"/>
              <a:sym typeface="Calibri"/>
            </a:endParaRPr>
          </a:p>
        </p:txBody>
      </p:sp>
      <p:sp>
        <p:nvSpPr>
          <p:cNvPr id="289" name="Google Shape;289;p10"/>
          <p:cNvSpPr/>
          <p:nvPr/>
        </p:nvSpPr>
        <p:spPr>
          <a:xfrm>
            <a:off x="457200" y="2286000"/>
            <a:ext cx="5486400" cy="3657600"/>
          </a:xfrm>
          <a:prstGeom prst="rect">
            <a:avLst/>
          </a:prstGeom>
          <a:noFill/>
          <a:ln>
            <a:noFill/>
          </a:ln>
        </p:spPr>
        <p:txBody>
          <a:bodyPr anchorCtr="0" anchor="t" bIns="45700" lIns="91425" spcFirstLastPara="1" rIns="91425" wrap="square" tIns="45700">
            <a:noAutofit/>
          </a:bodyPr>
          <a:lstStyle/>
          <a:p>
            <a:pPr indent="-330200" lvl="0" marL="342900" marR="0" rtl="0" algn="l">
              <a:spcBef>
                <a:spcPts val="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Insight 1 (Caching Impact):</a:t>
            </a:r>
            <a:r>
              <a:rPr lang="en-US" sz="1300">
                <a:solidFill>
                  <a:schemeClr val="dk1"/>
                </a:solidFill>
                <a:latin typeface="Calibri"/>
                <a:ea typeface="Calibri"/>
                <a:cs typeface="Calibri"/>
                <a:sym typeface="Calibri"/>
              </a:rPr>
              <a:t> Implementing a two-level caching system (L1 in-memory LRU and L2 persistent disk storage) was the most significant optimization, eliminating Phase 1 entirely on warm runs and yielding a 4.6x speedup on its own.</a:t>
            </a:r>
            <a:endParaRPr i="0" sz="13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Insight 2 (Concurrency Sweet Spot):</a:t>
            </a:r>
            <a:r>
              <a:rPr lang="en-US" sz="1300">
                <a:solidFill>
                  <a:schemeClr val="dk1"/>
                </a:solidFill>
                <a:latin typeface="Calibri"/>
                <a:ea typeface="Calibri"/>
                <a:cs typeface="Calibri"/>
                <a:sym typeface="Calibri"/>
              </a:rPr>
              <a:t> Parallelizing the scenario generation across different focus groups via </a:t>
            </a:r>
            <a:r>
              <a:rPr lang="en-US" sz="1300">
                <a:solidFill>
                  <a:srgbClr val="188038"/>
                </a:solidFill>
                <a:latin typeface="Calibri"/>
                <a:ea typeface="Calibri"/>
                <a:cs typeface="Calibri"/>
                <a:sym typeface="Calibri"/>
              </a:rPr>
              <a:t>asyncio.gather</a:t>
            </a:r>
            <a:r>
              <a:rPr lang="en-US" sz="1300">
                <a:solidFill>
                  <a:schemeClr val="dk1"/>
                </a:solidFill>
                <a:latin typeface="Calibri"/>
                <a:ea typeface="Calibri"/>
                <a:cs typeface="Calibri"/>
                <a:sym typeface="Calibri"/>
              </a:rPr>
              <a:t> yielded a 2.65x speedup for Phase 3, with a concurrency limit of 3 proving to be the optimal sweet spot. Offloading blocking I/O calls to a background thread pool also successfully filled CPU-idle network-wait time with concurrent requests. </a:t>
            </a:r>
            <a:endParaRPr i="0" sz="13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Insight 3 (Preserved Quality):</a:t>
            </a:r>
            <a:r>
              <a:rPr lang="en-US" sz="1300">
                <a:solidFill>
                  <a:schemeClr val="dk1"/>
                </a:solidFill>
                <a:latin typeface="Calibri"/>
                <a:ea typeface="Calibri"/>
                <a:cs typeface="Calibri"/>
                <a:sym typeface="Calibri"/>
              </a:rPr>
              <a:t> Achieving a 8x end-to-end speedup did not come at the cost of evaluation fidelity, as the optimized pipeline maintained a composite quality score of 74.2, which is statistically indistinguishable from the baseline which has a quality score of 73.8.</a:t>
            </a:r>
            <a:endParaRPr i="0" sz="1300" u="none" cap="none" strike="noStrike">
              <a:solidFill>
                <a:schemeClr val="dk1"/>
              </a:solidFill>
              <a:latin typeface="Calibri"/>
              <a:ea typeface="Calibri"/>
              <a:cs typeface="Calibri"/>
              <a:sym typeface="Calibri"/>
            </a:endParaRPr>
          </a:p>
        </p:txBody>
      </p:sp>
      <p:sp>
        <p:nvSpPr>
          <p:cNvPr id="290" name="Google Shape;290;p10"/>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What didn't work</a:t>
            </a:r>
            <a:endParaRPr b="0" i="0" sz="1600" u="none" cap="none" strike="noStrike">
              <a:solidFill>
                <a:schemeClr val="dk1"/>
              </a:solidFill>
              <a:latin typeface="Calibri"/>
              <a:ea typeface="Calibri"/>
              <a:cs typeface="Calibri"/>
              <a:sym typeface="Calibri"/>
            </a:endParaRPr>
          </a:p>
        </p:txBody>
      </p:sp>
      <p:sp>
        <p:nvSpPr>
          <p:cNvPr id="291" name="Google Shape;291;p10"/>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330200" lvl="0" marL="342900" marR="0" rtl="0" algn="l">
              <a:spcBef>
                <a:spcPts val="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Optimization that regressed performance:</a:t>
            </a:r>
            <a:r>
              <a:rPr lang="en-US" sz="1300">
                <a:solidFill>
                  <a:schemeClr val="dk1"/>
                </a:solidFill>
                <a:latin typeface="Calibri"/>
                <a:ea typeface="Calibri"/>
                <a:cs typeface="Calibri"/>
                <a:sym typeface="Calibri"/>
              </a:rPr>
              <a:t> Phase 3 (single agent scenario generation) did not show improvements beyond 3 concurrent tasks.</a:t>
            </a:r>
            <a:endParaRPr i="0" sz="13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Tool / approach we abandoned:</a:t>
            </a:r>
            <a:r>
              <a:rPr lang="en-US" sz="1300">
                <a:solidFill>
                  <a:schemeClr val="dk1"/>
                </a:solidFill>
                <a:latin typeface="Calibri"/>
                <a:ea typeface="Calibri"/>
                <a:cs typeface="Calibri"/>
                <a:sym typeface="Calibri"/>
              </a:rPr>
              <a:t> We initially relied on a single LLM call to generate scenarios directly from a prompt. While the outputs were linguistically fluent, they frequently violated physical constraints, referenced unavailable tools making them unusable. This led us to introduce the validate-and-repair loop, where a second LLM pass checks each scenario and fixes issues before it is accepted.</a:t>
            </a:r>
            <a:endParaRPr i="0" sz="13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Misconception we corrected mid-project:</a:t>
            </a:r>
            <a:r>
              <a:rPr lang="en-US" sz="1300">
                <a:solidFill>
                  <a:schemeClr val="dk1"/>
                </a:solidFill>
                <a:latin typeface="Calibri"/>
                <a:ea typeface="Calibri"/>
                <a:cs typeface="Calibri"/>
                <a:sym typeface="Calibri"/>
              </a:rPr>
              <a:t> We initially assumed that academic literature and general domain knowledge about transformers would be sufficient context for the LLM to generate valid scenarios. In practice, the generated scenarios frequently referenced sensors, asset IDs, and operating ranges that did not match the actual data in CouchDB, making them unexecutable by the agent. Grounding generation directly in live CouchDB data with real asset IDs, real sensor names, and real historical readings produced scenarios the agent could actually execute, which was reflected in meaningfully higher dry-run scores.</a:t>
            </a:r>
            <a:endParaRPr i="0" sz="1300" u="none" cap="none" strike="noStrike">
              <a:solidFill>
                <a:schemeClr val="dk1"/>
              </a:solidFill>
              <a:latin typeface="Calibri"/>
              <a:ea typeface="Calibri"/>
              <a:cs typeface="Calibri"/>
              <a:sym typeface="Calibri"/>
            </a:endParaRPr>
          </a:p>
        </p:txBody>
      </p:sp>
      <p:sp>
        <p:nvSpPr>
          <p:cNvPr id="292" name="Google Shape;292;p10"/>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93" name="Google Shape;293;p10"/>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10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11"/>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Next Steps</a:t>
            </a:r>
            <a:endParaRPr b="0" i="0" sz="3200" u="none" cap="none" strike="noStrike">
              <a:solidFill>
                <a:schemeClr val="dk1"/>
              </a:solidFill>
              <a:latin typeface="Calibri"/>
              <a:ea typeface="Calibri"/>
              <a:cs typeface="Calibri"/>
              <a:sym typeface="Calibri"/>
            </a:endParaRPr>
          </a:p>
        </p:txBody>
      </p:sp>
      <p:cxnSp>
        <p:nvCxnSpPr>
          <p:cNvPr id="300" name="Google Shape;300;p11"/>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301" name="Google Shape;301;p11"/>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02" name="Google Shape;302;p11"/>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11 / 14</a:t>
            </a:r>
            <a:endParaRPr b="0" i="0" sz="1000" u="none" cap="none" strike="noStrike">
              <a:solidFill>
                <a:schemeClr val="dk1"/>
              </a:solidFill>
              <a:latin typeface="Calibri"/>
              <a:ea typeface="Calibri"/>
              <a:cs typeface="Calibri"/>
              <a:sym typeface="Calibri"/>
            </a:endParaRPr>
          </a:p>
        </p:txBody>
      </p:sp>
      <p:sp>
        <p:nvSpPr>
          <p:cNvPr id="303" name="Google Shape;303;p11"/>
          <p:cNvSpPr/>
          <p:nvPr/>
        </p:nvSpPr>
        <p:spPr>
          <a:xfrm>
            <a:off x="4451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Apply the scenario generation pipeline to additional Industry 4.0 asset classes, such as wind turbines, motors, pumps, and process equipment, to test its generality and surface domain-specific validator requirements.</a:t>
            </a:r>
            <a:endParaRPr sz="1500">
              <a:solidFill>
                <a:schemeClr val="dk1"/>
              </a:solidFill>
              <a:latin typeface="Calibri"/>
              <a:ea typeface="Calibri"/>
              <a:cs typeface="Calibri"/>
              <a:sym typeface="Calibri"/>
            </a:endParaRPr>
          </a:p>
        </p:txBody>
      </p:sp>
      <p:sp>
        <p:nvSpPr>
          <p:cNvPr id="304" name="Google Shape;304;p11"/>
          <p:cNvSpPr/>
          <p:nvPr/>
        </p:nvSpPr>
        <p:spPr>
          <a:xfrm>
            <a:off x="673688" y="1678230"/>
            <a:ext cx="3127200" cy="36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600">
                <a:solidFill>
                  <a:schemeClr val="dk1"/>
                </a:solidFill>
                <a:latin typeface="Calibri"/>
                <a:ea typeface="Calibri"/>
                <a:cs typeface="Calibri"/>
                <a:sym typeface="Calibri"/>
              </a:rPr>
              <a:t>Broaden Asset-Class Coverage</a:t>
            </a:r>
            <a:endParaRPr b="0" i="0" sz="1600" u="none" cap="none" strike="noStrike">
              <a:solidFill>
                <a:schemeClr val="dk1"/>
              </a:solidFill>
              <a:latin typeface="Calibri"/>
              <a:ea typeface="Calibri"/>
              <a:cs typeface="Calibri"/>
              <a:sym typeface="Calibri"/>
            </a:endParaRPr>
          </a:p>
        </p:txBody>
      </p:sp>
      <p:sp>
        <p:nvSpPr>
          <p:cNvPr id="305" name="Google Shape;305;p11"/>
          <p:cNvSpPr/>
          <p:nvPr/>
        </p:nvSpPr>
        <p:spPr>
          <a:xfrm>
            <a:off x="43038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4532381" y="1788038"/>
            <a:ext cx="3127200" cy="365700"/>
          </a:xfrm>
          <a:prstGeom prst="rect">
            <a:avLst/>
          </a:prstGeom>
          <a:noFill/>
          <a:ln>
            <a:noFill/>
          </a:ln>
        </p:spPr>
        <p:txBody>
          <a:bodyPr anchorCtr="0" anchor="ctr" bIns="0" lIns="0" spcFirstLastPara="1" rIns="0" wrap="square" tIns="0">
            <a:noAutofit/>
          </a:bodyPr>
          <a:lstStyle/>
          <a:p>
            <a:pPr indent="0" lvl="0" marL="0" rtl="0" algn="l">
              <a:spcBef>
                <a:spcPts val="1400"/>
              </a:spcBef>
              <a:spcAft>
                <a:spcPts val="0"/>
              </a:spcAft>
              <a:buNone/>
            </a:pPr>
            <a:r>
              <a:rPr b="1" lang="en-US" sz="1600">
                <a:solidFill>
                  <a:schemeClr val="dk1"/>
                </a:solidFill>
                <a:latin typeface="Calibri"/>
                <a:ea typeface="Calibri"/>
                <a:cs typeface="Calibri"/>
                <a:sym typeface="Calibri"/>
              </a:rPr>
              <a:t>Dedicated Evaluation for Negative Tracks</a:t>
            </a:r>
            <a:endParaRPr i="0" sz="1600" u="none" cap="none" strike="noStrike">
              <a:solidFill>
                <a:schemeClr val="dk1"/>
              </a:solidFill>
              <a:latin typeface="Calibri"/>
              <a:ea typeface="Calibri"/>
              <a:cs typeface="Calibri"/>
              <a:sym typeface="Calibri"/>
            </a:endParaRPr>
          </a:p>
        </p:txBody>
      </p:sp>
      <p:sp>
        <p:nvSpPr>
          <p:cNvPr id="307" name="Google Shape;307;p11"/>
          <p:cNvSpPr/>
          <p:nvPr/>
        </p:nvSpPr>
        <p:spPr>
          <a:xfrm>
            <a:off x="4532388" y="2323435"/>
            <a:ext cx="3127200" cy="3608400"/>
          </a:xfrm>
          <a:prstGeom prst="rect">
            <a:avLst/>
          </a:prstGeom>
          <a:noFill/>
          <a:ln>
            <a:noFill/>
          </a:ln>
        </p:spPr>
        <p:txBody>
          <a:bodyPr anchorCtr="0" anchor="t" bIns="0" lIns="0" spcFirstLastPara="1" rIns="0" wrap="square" tIns="0">
            <a:noAutofit/>
          </a:bodyPr>
          <a:lstStyle/>
          <a:p>
            <a:pPr indent="0" lvl="0" marL="457200" rtl="0" algn="l">
              <a:spcBef>
                <a:spcPts val="1400"/>
              </a:spcBef>
              <a:spcAft>
                <a:spcPts val="0"/>
              </a:spcAft>
              <a:buNone/>
            </a:pPr>
            <a:r>
              <a:t/>
            </a:r>
            <a:endParaRPr sz="1500">
              <a:solidFill>
                <a:schemeClr val="dk1"/>
              </a:solidFill>
              <a:latin typeface="Calibri"/>
              <a:ea typeface="Calibri"/>
              <a:cs typeface="Calibri"/>
              <a:sym typeface="Calibri"/>
            </a:endParaRPr>
          </a:p>
          <a:p>
            <a:pPr indent="0" lvl="0" marL="457200" rtl="0" algn="l">
              <a:spcBef>
                <a:spcPts val="1400"/>
              </a:spcBef>
              <a:spcAft>
                <a:spcPts val="0"/>
              </a:spcAft>
              <a:buNone/>
            </a:pPr>
            <a:r>
              <a:t/>
            </a:r>
            <a:endParaRPr sz="1500">
              <a:solidFill>
                <a:schemeClr val="dk1"/>
              </a:solidFill>
              <a:latin typeface="Calibri"/>
              <a:ea typeface="Calibri"/>
              <a:cs typeface="Calibri"/>
              <a:sym typeface="Calibri"/>
            </a:endParaRPr>
          </a:p>
          <a:p>
            <a:pPr indent="0" lvl="0" marL="0" rtl="0" algn="l">
              <a:spcBef>
                <a:spcPts val="1400"/>
              </a:spcBef>
              <a:spcAft>
                <a:spcPts val="0"/>
              </a:spcAft>
              <a:buNone/>
            </a:pPr>
            <a:r>
              <a:rPr lang="en-US" sz="1500">
                <a:solidFill>
                  <a:schemeClr val="dk1"/>
                </a:solidFill>
                <a:latin typeface="Calibri"/>
                <a:ea typeface="Calibri"/>
                <a:cs typeface="Calibri"/>
                <a:sym typeface="Calibri"/>
              </a:rPr>
              <a:t>Develop a dedicated evaluation protocol, distinct from the positive track, for the negative-track scenarios to better probe agent refusal and insufficiency behavior under deliberate non-answerability. </a:t>
            </a:r>
            <a:endParaRPr sz="1500">
              <a:solidFill>
                <a:srgbClr val="1A1A1A"/>
              </a:solidFill>
              <a:latin typeface="Calibri"/>
              <a:ea typeface="Calibri"/>
              <a:cs typeface="Calibri"/>
              <a:sym typeface="Calibri"/>
            </a:endParaRPr>
          </a:p>
        </p:txBody>
      </p:sp>
      <p:sp>
        <p:nvSpPr>
          <p:cNvPr id="308" name="Google Shape;308;p11"/>
          <p:cNvSpPr/>
          <p:nvPr/>
        </p:nvSpPr>
        <p:spPr>
          <a:xfrm>
            <a:off x="81625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8391099" y="1678230"/>
            <a:ext cx="312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Generator Fine Tuning</a:t>
            </a:r>
            <a:endParaRPr b="0" i="0" sz="1600" u="none" cap="none" strike="noStrike">
              <a:solidFill>
                <a:schemeClr val="dk1"/>
              </a:solidFill>
              <a:latin typeface="Calibri"/>
              <a:ea typeface="Calibri"/>
              <a:cs typeface="Calibri"/>
              <a:sym typeface="Calibri"/>
            </a:endParaRPr>
          </a:p>
        </p:txBody>
      </p:sp>
      <p:sp>
        <p:nvSpPr>
          <p:cNvPr id="310" name="Google Shape;310;p11"/>
          <p:cNvSpPr/>
          <p:nvPr/>
        </p:nvSpPr>
        <p:spPr>
          <a:xfrm>
            <a:off x="8391138" y="2173647"/>
            <a:ext cx="3127200" cy="360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Explore preference-based or reinforcement-style fine-tuning of the generator itself using the validate-and-repair loop as a natural substrate. This could further reduce repair iterations and improve the first-pass yield.</a:t>
            </a:r>
            <a:endParaRPr sz="19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12"/>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Teamwork &amp; Contributions</a:t>
            </a:r>
            <a:endParaRPr b="0" i="0" sz="3200" u="none" cap="none" strike="noStrike">
              <a:solidFill>
                <a:schemeClr val="dk1"/>
              </a:solidFill>
              <a:latin typeface="Calibri"/>
              <a:ea typeface="Calibri"/>
              <a:cs typeface="Calibri"/>
              <a:sym typeface="Calibri"/>
            </a:endParaRPr>
          </a:p>
        </p:txBody>
      </p:sp>
      <p:cxnSp>
        <p:nvCxnSpPr>
          <p:cNvPr id="317" name="Google Shape;317;p12"/>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graphicFrame>
        <p:nvGraphicFramePr>
          <p:cNvPr id="318" name="Google Shape;318;p12"/>
          <p:cNvGraphicFramePr/>
          <p:nvPr/>
        </p:nvGraphicFramePr>
        <p:xfrm>
          <a:off x="457200" y="1828800"/>
          <a:ext cx="3000000" cy="3000000"/>
        </p:xfrm>
        <a:graphic>
          <a:graphicData uri="http://schemas.openxmlformats.org/drawingml/2006/table">
            <a:tbl>
              <a:tblPr>
                <a:noFill/>
                <a:tableStyleId>{57ED6B9E-C80C-4C89-9DE3-558ACC725F6C}</a:tableStyleId>
              </a:tblPr>
              <a:tblGrid>
                <a:gridCol w="2011675"/>
                <a:gridCol w="5029200"/>
                <a:gridCol w="4233675"/>
              </a:tblGrid>
              <a:tr h="640075">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Member</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Primary contributions</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Tools / artifacts</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Rohith Kanathur</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Transformer Asset Class Integration, Profiling, Optimization, Wandb Logging, Evaluation and Documentation Work.</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https://github.com/Rohith-Kanathur/AssetOpsBench/tree/feat/scenario-generator-profiling</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Sagar Che</a:t>
                      </a:r>
                      <a:r>
                        <a:rPr lang="en-US" sz="1200">
                          <a:solidFill>
                            <a:srgbClr val="1A1A1A"/>
                          </a:solidFill>
                          <a:latin typeface="Calibri"/>
                          <a:ea typeface="Calibri"/>
                          <a:cs typeface="Calibri"/>
                          <a:sym typeface="Calibri"/>
                        </a:rPr>
                        <a:t>than Kumar</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latin typeface="Calibri"/>
                          <a:ea typeface="Calibri"/>
                          <a:cs typeface="Calibri"/>
                          <a:sym typeface="Calibri"/>
                        </a:rPr>
                        <a:t>Scenario generation pipeline implementation (research &amp; digest agent, validate &amp; repair agent, and domain generation). </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src/scenarios/*, docs/report.tex</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Ananya Kapoor</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[e.g., src/eval.py, scripts/quantize.py]</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Dev Bahl</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[e.g., docs/report.tex, results/figures/]</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319" name="Google Shape;319;p12"/>
          <p:cNvSpPr/>
          <p:nvPr/>
        </p:nvSpPr>
        <p:spPr>
          <a:xfrm>
            <a:off x="457200" y="5897880"/>
            <a:ext cx="112745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100"/>
              <a:buFont typeface="Calibri"/>
              <a:buNone/>
            </a:pPr>
            <a:r>
              <a:rPr b="0" i="1" lang="en-US" sz="1100" u="none" cap="none" strike="noStrike">
                <a:solidFill>
                  <a:srgbClr val="6B6F76"/>
                </a:solidFill>
                <a:latin typeface="Calibri"/>
                <a:ea typeface="Calibri"/>
                <a:cs typeface="Calibri"/>
                <a:sym typeface="Calibri"/>
              </a:rPr>
              <a:t>Collaboration: </a:t>
            </a:r>
            <a:r>
              <a:rPr i="1" lang="en-US" sz="1100">
                <a:solidFill>
                  <a:srgbClr val="6B6F76"/>
                </a:solidFill>
                <a:latin typeface="Calibri"/>
                <a:ea typeface="Calibri"/>
                <a:cs typeface="Calibri"/>
                <a:sym typeface="Calibri"/>
              </a:rPr>
              <a:t>Weekly team </a:t>
            </a:r>
            <a:r>
              <a:rPr b="0" i="1" lang="en-US" sz="1100" u="none" cap="none" strike="noStrike">
                <a:solidFill>
                  <a:srgbClr val="6B6F76"/>
                </a:solidFill>
                <a:latin typeface="Calibri"/>
                <a:ea typeface="Calibri"/>
                <a:cs typeface="Calibri"/>
                <a:sym typeface="Calibri"/>
              </a:rPr>
              <a:t>meetings via </a:t>
            </a:r>
            <a:r>
              <a:rPr i="1" lang="en-US" sz="1100">
                <a:solidFill>
                  <a:srgbClr val="6B6F76"/>
                </a:solidFill>
                <a:latin typeface="Calibri"/>
                <a:ea typeface="Calibri"/>
                <a:cs typeface="Calibri"/>
                <a:sym typeface="Calibri"/>
              </a:rPr>
              <a:t>Gmeet</a:t>
            </a:r>
            <a:r>
              <a:rPr b="0" i="1" lang="en-US" sz="1100" u="none" cap="none" strike="noStrike">
                <a:solidFill>
                  <a:srgbClr val="6B6F76"/>
                </a:solidFill>
                <a:latin typeface="Calibri"/>
                <a:ea typeface="Calibri"/>
                <a:cs typeface="Calibri"/>
                <a:sym typeface="Calibri"/>
              </a:rPr>
              <a:t>,</a:t>
            </a:r>
            <a:r>
              <a:rPr i="1" lang="en-US" sz="1100">
                <a:solidFill>
                  <a:srgbClr val="6B6F76"/>
                </a:solidFill>
                <a:latin typeface="Calibri"/>
                <a:ea typeface="Calibri"/>
                <a:cs typeface="Calibri"/>
                <a:sym typeface="Calibri"/>
              </a:rPr>
              <a:t> communications over Whatsapp. Updated mentor: Dr. Dhaval Patel weekly over email chain and overleaf documents.</a:t>
            </a:r>
            <a:endParaRPr b="0" i="0" sz="1100" u="none" cap="none" strike="noStrike">
              <a:solidFill>
                <a:schemeClr val="dk1"/>
              </a:solidFill>
              <a:latin typeface="Calibri"/>
              <a:ea typeface="Calibri"/>
              <a:cs typeface="Calibri"/>
              <a:sym typeface="Calibri"/>
            </a:endParaRPr>
          </a:p>
        </p:txBody>
      </p:sp>
      <p:sp>
        <p:nvSpPr>
          <p:cNvPr id="320" name="Google Shape;320;p12"/>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21" name="Google Shape;321;p12"/>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12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326" name="Shape 326"/>
        <p:cNvGrpSpPr/>
        <p:nvPr/>
      </p:nvGrpSpPr>
      <p:grpSpPr>
        <a:xfrm>
          <a:off x="0" y="0"/>
          <a:ext cx="0" cy="0"/>
          <a:chOff x="0" y="0"/>
          <a:chExt cx="0" cy="0"/>
        </a:xfrm>
      </p:grpSpPr>
      <p:sp>
        <p:nvSpPr>
          <p:cNvPr id="327" name="Google Shape;327;p13"/>
          <p:cNvSpPr/>
          <p:nvPr/>
        </p:nvSpPr>
        <p:spPr>
          <a:xfrm>
            <a:off x="548640" y="2194560"/>
            <a:ext cx="10972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Thank you</a:t>
            </a:r>
            <a:endParaRPr b="0" i="0" sz="6400" u="none" cap="none" strike="noStrike">
              <a:solidFill>
                <a:schemeClr val="dk1"/>
              </a:solidFill>
              <a:latin typeface="Calibri"/>
              <a:ea typeface="Calibri"/>
              <a:cs typeface="Calibri"/>
              <a:sym typeface="Calibri"/>
            </a:endParaRPr>
          </a:p>
        </p:txBody>
      </p:sp>
      <p:sp>
        <p:nvSpPr>
          <p:cNvPr id="328" name="Google Shape;328;p13"/>
          <p:cNvSpPr/>
          <p:nvPr/>
        </p:nvSpPr>
        <p:spPr>
          <a:xfrm>
            <a:off x="548640" y="320040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2800"/>
              <a:buFont typeface="Calibri"/>
              <a:buNone/>
            </a:pPr>
            <a:r>
              <a:rPr b="0" i="1" lang="en-US" sz="2800" u="none" cap="none" strike="noStrike">
                <a:solidFill>
                  <a:srgbClr val="B8BCC4"/>
                </a:solidFill>
                <a:latin typeface="Calibri"/>
                <a:ea typeface="Calibri"/>
                <a:cs typeface="Calibri"/>
                <a:sym typeface="Calibri"/>
              </a:rPr>
              <a:t>Questions?</a:t>
            </a:r>
            <a:endParaRPr b="0" i="0" sz="2800" u="none" cap="none" strike="noStrike">
              <a:solidFill>
                <a:schemeClr val="dk1"/>
              </a:solidFill>
              <a:latin typeface="Calibri"/>
              <a:ea typeface="Calibri"/>
              <a:cs typeface="Calibri"/>
              <a:sym typeface="Calibri"/>
            </a:endParaRPr>
          </a:p>
        </p:txBody>
      </p:sp>
      <p:sp>
        <p:nvSpPr>
          <p:cNvPr id="329" name="Google Shape;329;p13"/>
          <p:cNvSpPr/>
          <p:nvPr/>
        </p:nvSpPr>
        <p:spPr>
          <a:xfrm>
            <a:off x="548640" y="4572000"/>
            <a:ext cx="10972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GitHub:  </a:t>
            </a:r>
            <a:r>
              <a:rPr lang="en-US" sz="1600">
                <a:solidFill>
                  <a:schemeClr val="lt1"/>
                </a:solidFill>
                <a:latin typeface="Calibri"/>
                <a:ea typeface="Calibri"/>
                <a:cs typeface="Calibri"/>
                <a:sym typeface="Calibri"/>
              </a:rPr>
              <a:t>https://github.com/Rohith-Kanathur/AssetOpsBench</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Tracking:  </a:t>
            </a:r>
            <a:r>
              <a:rPr lang="en-US" sz="1600">
                <a:solidFill>
                  <a:schemeClr val="lt1"/>
                </a:solidFill>
                <a:latin typeface="Calibri"/>
                <a:ea typeface="Calibri"/>
                <a:cs typeface="Calibri"/>
                <a:sym typeface="Calibri"/>
              </a:rPr>
              <a:t>https://wandb.ai/rk3443-columbia-university/assetopsbench</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600"/>
              <a:buFont typeface="Calibri"/>
              <a:buNone/>
            </a:pPr>
            <a:r>
              <a:t/>
            </a:r>
            <a:endParaRPr sz="1600">
              <a:solidFill>
                <a:srgbClr val="FFFFFF"/>
              </a:solidFill>
              <a:latin typeface="Calibri"/>
              <a:ea typeface="Calibri"/>
              <a:cs typeface="Calibri"/>
              <a:sym typeface="Calibri"/>
            </a:endParaRPr>
          </a:p>
        </p:txBody>
      </p:sp>
      <p:sp>
        <p:nvSpPr>
          <p:cNvPr id="330" name="Google Shape;330;p13"/>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1000"/>
              <a:buFont typeface="Calibri"/>
              <a:buNone/>
            </a:pPr>
            <a:r>
              <a:rPr b="0" i="1" lang="en-US" sz="1000" u="none" cap="none" strike="noStrike">
                <a:solidFill>
                  <a:srgbClr val="8E939A"/>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31" name="Google Shape;331;p13"/>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E939A"/>
              </a:buClr>
              <a:buSzPts val="1000"/>
              <a:buFont typeface="Calibri"/>
              <a:buNone/>
            </a:pPr>
            <a:r>
              <a:rPr b="0" i="0" lang="en-US" sz="1000" u="none" cap="none" strike="noStrike">
                <a:solidFill>
                  <a:srgbClr val="8E939A"/>
                </a:solidFill>
                <a:latin typeface="Calibri"/>
                <a:ea typeface="Calibri"/>
                <a:cs typeface="Calibri"/>
                <a:sym typeface="Calibri"/>
              </a:rPr>
              <a:t>13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14"/>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E</a:t>
            </a:r>
            <a:r>
              <a:rPr b="1" lang="en-US" sz="3200">
                <a:solidFill>
                  <a:srgbClr val="1A1A1A"/>
                </a:solidFill>
                <a:latin typeface="Calibri"/>
                <a:ea typeface="Calibri"/>
                <a:cs typeface="Calibri"/>
                <a:sym typeface="Calibri"/>
              </a:rPr>
              <a:t>valuation Methodology</a:t>
            </a:r>
            <a:endParaRPr b="0" i="0" sz="3200" u="none" cap="none" strike="noStrike">
              <a:solidFill>
                <a:schemeClr val="dk1"/>
              </a:solidFill>
              <a:latin typeface="Calibri"/>
              <a:ea typeface="Calibri"/>
              <a:cs typeface="Calibri"/>
              <a:sym typeface="Calibri"/>
            </a:endParaRPr>
          </a:p>
        </p:txBody>
      </p:sp>
      <p:cxnSp>
        <p:nvCxnSpPr>
          <p:cNvPr id="338" name="Google Shape;338;p14"/>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339" name="Google Shape;339;p14"/>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40" name="Google Shape;340;p14"/>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sp>
        <p:nvSpPr>
          <p:cNvPr id="341" name="Google Shape;341;p14"/>
          <p:cNvSpPr/>
          <p:nvPr/>
        </p:nvSpPr>
        <p:spPr>
          <a:xfrm>
            <a:off x="457197" y="1944343"/>
            <a:ext cx="640200" cy="2376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Stage 1</a:t>
            </a:r>
            <a:endParaRPr b="0" i="0" sz="1200" u="none" cap="none" strike="noStrike">
              <a:solidFill>
                <a:srgbClr val="FFFFFF"/>
              </a:solidFill>
              <a:latin typeface="Calibri"/>
              <a:ea typeface="Calibri"/>
              <a:cs typeface="Calibri"/>
              <a:sym typeface="Calibri"/>
            </a:endParaRPr>
          </a:p>
        </p:txBody>
      </p:sp>
      <p:sp>
        <p:nvSpPr>
          <p:cNvPr id="342" name="Google Shape;342;p14"/>
          <p:cNvSpPr/>
          <p:nvPr/>
        </p:nvSpPr>
        <p:spPr>
          <a:xfrm>
            <a:off x="1731695" y="1944343"/>
            <a:ext cx="877800" cy="237600"/>
          </a:xfrm>
          <a:prstGeom prst="roundRect">
            <a:avLst>
              <a:gd fmla="val 19231" name="adj"/>
            </a:avLst>
          </a:prstGeom>
          <a:solidFill>
            <a:srgbClr val="78909C"/>
          </a:solidFill>
          <a:ln cap="flat" cmpd="sng" w="12700">
            <a:solidFill>
              <a:srgbClr val="CCFB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20 pts</a:t>
            </a:r>
            <a:endParaRPr b="0" i="0" sz="1200" u="none" cap="none" strike="noStrike">
              <a:solidFill>
                <a:srgbClr val="FFFFFF"/>
              </a:solidFill>
              <a:latin typeface="Calibri"/>
              <a:ea typeface="Calibri"/>
              <a:cs typeface="Calibri"/>
              <a:sym typeface="Calibri"/>
            </a:endParaRPr>
          </a:p>
        </p:txBody>
      </p:sp>
      <p:sp>
        <p:nvSpPr>
          <p:cNvPr id="343" name="Google Shape;343;p14"/>
          <p:cNvSpPr/>
          <p:nvPr/>
        </p:nvSpPr>
        <p:spPr>
          <a:xfrm>
            <a:off x="457199" y="2409625"/>
            <a:ext cx="1345800" cy="30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Static Checks</a:t>
            </a:r>
            <a:endParaRPr b="0" i="0" sz="1400" u="none" cap="none" strike="noStrike">
              <a:solidFill>
                <a:srgbClr val="000000"/>
              </a:solidFill>
              <a:latin typeface="Calibri"/>
              <a:ea typeface="Calibri"/>
              <a:cs typeface="Calibri"/>
              <a:sym typeface="Calibri"/>
            </a:endParaRPr>
          </a:p>
        </p:txBody>
      </p:sp>
      <p:sp>
        <p:nvSpPr>
          <p:cNvPr id="344" name="Google Shape;344;p14"/>
          <p:cNvSpPr/>
          <p:nvPr/>
        </p:nvSpPr>
        <p:spPr>
          <a:xfrm>
            <a:off x="558725" y="2787324"/>
            <a:ext cx="2319000" cy="18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Schema completeness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Type diversity (&lt;=50% per type)</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Category alignment</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Text length (15–400 chars)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Dedup detection</a:t>
            </a:r>
            <a:endParaRPr b="0" i="0" sz="1200" u="none" cap="none" strike="noStrike">
              <a:solidFill>
                <a:srgbClr val="000000"/>
              </a:solidFill>
              <a:latin typeface="Calibri"/>
              <a:ea typeface="Calibri"/>
              <a:cs typeface="Calibri"/>
              <a:sym typeface="Calibri"/>
            </a:endParaRPr>
          </a:p>
        </p:txBody>
      </p:sp>
      <p:sp>
        <p:nvSpPr>
          <p:cNvPr id="345" name="Google Shape;345;p14"/>
          <p:cNvSpPr/>
          <p:nvPr/>
        </p:nvSpPr>
        <p:spPr>
          <a:xfrm>
            <a:off x="4175597" y="1944343"/>
            <a:ext cx="640200" cy="237600"/>
          </a:xfrm>
          <a:prstGeom prst="rect">
            <a:avLst/>
          </a:prstGeom>
          <a:solidFill>
            <a:srgbClr val="4285F4"/>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Stage 2</a:t>
            </a:r>
            <a:endParaRPr b="0" i="0" sz="1200" u="none" cap="none" strike="noStrike">
              <a:solidFill>
                <a:srgbClr val="FFFFFF"/>
              </a:solidFill>
              <a:latin typeface="Calibri"/>
              <a:ea typeface="Calibri"/>
              <a:cs typeface="Calibri"/>
              <a:sym typeface="Calibri"/>
            </a:endParaRPr>
          </a:p>
        </p:txBody>
      </p:sp>
      <p:sp>
        <p:nvSpPr>
          <p:cNvPr id="346" name="Google Shape;346;p14"/>
          <p:cNvSpPr/>
          <p:nvPr/>
        </p:nvSpPr>
        <p:spPr>
          <a:xfrm>
            <a:off x="5492695" y="1968143"/>
            <a:ext cx="877800" cy="237600"/>
          </a:xfrm>
          <a:prstGeom prst="roundRect">
            <a:avLst>
              <a:gd fmla="val 19231" name="adj"/>
            </a:avLst>
          </a:prstGeom>
          <a:solidFill>
            <a:srgbClr val="4285F4"/>
          </a:solidFill>
          <a:ln cap="flat" cmpd="sng" w="12700">
            <a:solidFill>
              <a:srgbClr val="CCFB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20 pts</a:t>
            </a:r>
            <a:endParaRPr b="0" i="0" sz="1200" u="none" cap="none" strike="noStrike">
              <a:solidFill>
                <a:srgbClr val="FFFFFF"/>
              </a:solidFill>
              <a:latin typeface="Calibri"/>
              <a:ea typeface="Calibri"/>
              <a:cs typeface="Calibri"/>
              <a:sym typeface="Calibri"/>
            </a:endParaRPr>
          </a:p>
        </p:txBody>
      </p:sp>
      <p:sp>
        <p:nvSpPr>
          <p:cNvPr id="347" name="Google Shape;347;p14"/>
          <p:cNvSpPr/>
          <p:nvPr/>
        </p:nvSpPr>
        <p:spPr>
          <a:xfrm>
            <a:off x="4235174" y="2433425"/>
            <a:ext cx="1345800" cy="30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LLM Judge</a:t>
            </a:r>
            <a:endParaRPr b="1" i="0" sz="1400" u="none" cap="none" strike="noStrike">
              <a:solidFill>
                <a:srgbClr val="1E293B"/>
              </a:solidFill>
              <a:latin typeface="Calibri"/>
              <a:ea typeface="Calibri"/>
              <a:cs typeface="Calibri"/>
              <a:sym typeface="Calibri"/>
            </a:endParaRPr>
          </a:p>
        </p:txBody>
      </p:sp>
      <p:sp>
        <p:nvSpPr>
          <p:cNvPr id="348" name="Google Shape;348;p14"/>
          <p:cNvSpPr/>
          <p:nvPr/>
        </p:nvSpPr>
        <p:spPr>
          <a:xfrm>
            <a:off x="4235175" y="2850849"/>
            <a:ext cx="2319000" cy="18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Answerability (10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Tool usability (8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Difficulty (6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Characteristic quality (4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Clarity (2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p:txBody>
      </p:sp>
      <p:sp>
        <p:nvSpPr>
          <p:cNvPr id="349" name="Google Shape;349;p14"/>
          <p:cNvSpPr/>
          <p:nvPr/>
        </p:nvSpPr>
        <p:spPr>
          <a:xfrm>
            <a:off x="8013150" y="1968150"/>
            <a:ext cx="2788800" cy="30258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4"/>
          <p:cNvSpPr/>
          <p:nvPr/>
        </p:nvSpPr>
        <p:spPr>
          <a:xfrm>
            <a:off x="8148797" y="2056518"/>
            <a:ext cx="640200" cy="237600"/>
          </a:xfrm>
          <a:prstGeom prst="rect">
            <a:avLst/>
          </a:prstGeom>
          <a:solidFill>
            <a:srgbClr val="FFAB40"/>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Stage 3</a:t>
            </a:r>
            <a:endParaRPr b="0" i="0" sz="1200" u="none" cap="none" strike="noStrike">
              <a:solidFill>
                <a:srgbClr val="FFFFFF"/>
              </a:solidFill>
              <a:latin typeface="Calibri"/>
              <a:ea typeface="Calibri"/>
              <a:cs typeface="Calibri"/>
              <a:sym typeface="Calibri"/>
            </a:endParaRPr>
          </a:p>
        </p:txBody>
      </p:sp>
      <p:sp>
        <p:nvSpPr>
          <p:cNvPr id="351" name="Google Shape;351;p14"/>
          <p:cNvSpPr/>
          <p:nvPr/>
        </p:nvSpPr>
        <p:spPr>
          <a:xfrm>
            <a:off x="9711849" y="2080325"/>
            <a:ext cx="777300" cy="237600"/>
          </a:xfrm>
          <a:prstGeom prst="roundRect">
            <a:avLst>
              <a:gd fmla="val 19231" name="adj"/>
            </a:avLst>
          </a:prstGeom>
          <a:solidFill>
            <a:srgbClr val="FFAB40"/>
          </a:solidFill>
          <a:ln cap="flat" cmpd="sng" w="12700">
            <a:solidFill>
              <a:srgbClr val="CCFB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50 Pts</a:t>
            </a:r>
            <a:endParaRPr b="0" i="0" sz="1200" u="none" cap="none" strike="noStrike">
              <a:solidFill>
                <a:srgbClr val="FFFFFF"/>
              </a:solidFill>
              <a:latin typeface="Calibri"/>
              <a:ea typeface="Calibri"/>
              <a:cs typeface="Calibri"/>
              <a:sym typeface="Calibri"/>
            </a:endParaRPr>
          </a:p>
        </p:txBody>
      </p:sp>
      <p:sp>
        <p:nvSpPr>
          <p:cNvPr id="352" name="Google Shape;352;p14"/>
          <p:cNvSpPr/>
          <p:nvPr/>
        </p:nvSpPr>
        <p:spPr>
          <a:xfrm>
            <a:off x="8188526" y="2545600"/>
            <a:ext cx="2076000" cy="30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Dry-Run Execution</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E293B"/>
              </a:buClr>
              <a:buSzPts val="1400"/>
              <a:buFont typeface="Calibri"/>
              <a:buNone/>
            </a:pPr>
            <a:r>
              <a:t/>
            </a:r>
            <a:endParaRPr b="1" i="0" sz="1400" u="none" cap="none" strike="noStrike">
              <a:solidFill>
                <a:srgbClr val="1E293B"/>
              </a:solidFill>
              <a:latin typeface="Calibri"/>
              <a:ea typeface="Calibri"/>
              <a:cs typeface="Calibri"/>
              <a:sym typeface="Calibri"/>
            </a:endParaRPr>
          </a:p>
        </p:txBody>
      </p:sp>
      <p:sp>
        <p:nvSpPr>
          <p:cNvPr id="353" name="Google Shape;353;p14"/>
          <p:cNvSpPr/>
          <p:nvPr/>
        </p:nvSpPr>
        <p:spPr>
          <a:xfrm>
            <a:off x="8280100" y="2923299"/>
            <a:ext cx="2319000" cy="18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Plausible response (20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Correct tools used (15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No obvious errors (15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Run by PlanExecuteRunner</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Highest weight: real-world signal</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p:txBody>
      </p:sp>
      <p:sp>
        <p:nvSpPr>
          <p:cNvPr id="354" name="Google Shape;354;p14"/>
          <p:cNvSpPr/>
          <p:nvPr/>
        </p:nvSpPr>
        <p:spPr>
          <a:xfrm>
            <a:off x="1364950" y="5472100"/>
            <a:ext cx="8195700" cy="5877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1" lang="en-US" sz="1000" u="none" cap="none" strike="noStrike">
                <a:solidFill>
                  <a:srgbClr val="FFFFFF"/>
                </a:solidFill>
                <a:latin typeface="Calibri"/>
                <a:ea typeface="Calibri"/>
                <a:cs typeface="Calibri"/>
                <a:sym typeface="Calibri"/>
              </a:rPr>
              <a:t>Quality Score  =  Static + LLM + Dry Run Scores   ∈ [0, 100]   </a:t>
            </a:r>
            <a:endParaRPr b="1" i="1" sz="10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00"/>
              <a:buFont typeface="Arial"/>
              <a:buNone/>
            </a:pPr>
            <a:r>
              <a:rPr b="1" i="1" lang="en-US" sz="1000" u="none" cap="none" strike="noStrike">
                <a:solidFill>
                  <a:srgbClr val="FFFFFF"/>
                </a:solidFill>
                <a:latin typeface="Calibri"/>
                <a:ea typeface="Calibri"/>
                <a:cs typeface="Calibri"/>
                <a:sym typeface="Calibri"/>
              </a:rPr>
              <a:t> &gt;= 70: high quality   </a:t>
            </a:r>
            <a:endParaRPr b="1" i="1" sz="10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00"/>
              <a:buFont typeface="Arial"/>
              <a:buNone/>
            </a:pPr>
            <a:r>
              <a:rPr b="1" i="1" lang="en-US" sz="1000" u="none" cap="none" strike="noStrike">
                <a:solidFill>
                  <a:srgbClr val="FFFFFF"/>
                </a:solidFill>
                <a:latin typeface="Calibri"/>
                <a:ea typeface="Calibri"/>
                <a:cs typeface="Calibri"/>
                <a:sym typeface="Calibri"/>
              </a:rPr>
              <a:t> &lt; 50: low quality</a:t>
            </a:r>
            <a:endParaRPr b="1" i="1"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g3dbcac02c12_1_21"/>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E</a:t>
            </a:r>
            <a:r>
              <a:rPr b="1" lang="en-US" sz="3200">
                <a:solidFill>
                  <a:srgbClr val="1A1A1A"/>
                </a:solidFill>
                <a:latin typeface="Calibri"/>
                <a:ea typeface="Calibri"/>
                <a:cs typeface="Calibri"/>
                <a:sym typeface="Calibri"/>
              </a:rPr>
              <a:t>valuation Results (N=50, 3 Runs)</a:t>
            </a:r>
            <a:endParaRPr b="0" i="0" sz="3200" u="none" cap="none" strike="noStrike">
              <a:solidFill>
                <a:schemeClr val="dk1"/>
              </a:solidFill>
              <a:latin typeface="Calibri"/>
              <a:ea typeface="Calibri"/>
              <a:cs typeface="Calibri"/>
              <a:sym typeface="Calibri"/>
            </a:endParaRPr>
          </a:p>
        </p:txBody>
      </p:sp>
      <p:cxnSp>
        <p:nvCxnSpPr>
          <p:cNvPr id="361" name="Google Shape;361;g3dbcac02c12_1_21"/>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362" name="Google Shape;362;g3dbcac02c12_1_21"/>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63" name="Google Shape;363;g3dbcac02c12_1_21"/>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graphicFrame>
        <p:nvGraphicFramePr>
          <p:cNvPr id="364" name="Google Shape;364;g3dbcac02c12_1_21"/>
          <p:cNvGraphicFramePr/>
          <p:nvPr/>
        </p:nvGraphicFramePr>
        <p:xfrm>
          <a:off x="457188" y="1985750"/>
          <a:ext cx="3000000" cy="3000000"/>
        </p:xfrm>
        <a:graphic>
          <a:graphicData uri="http://schemas.openxmlformats.org/drawingml/2006/table">
            <a:tbl>
              <a:tblPr>
                <a:noFill/>
                <a:tableStyleId>{E6E636AC-44C4-4649-99DD-828383678349}</a:tableStyleId>
              </a:tblPr>
              <a:tblGrid>
                <a:gridCol w="2115000"/>
                <a:gridCol w="819950"/>
                <a:gridCol w="914425"/>
              </a:tblGrid>
              <a:tr h="3720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Metric</a:t>
                      </a:r>
                      <a:endParaRPr sz="1200" u="none" cap="none" strike="noStrike">
                        <a:solidFill>
                          <a:srgbClr val="000000"/>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Baseline</a:t>
                      </a:r>
                      <a:endParaRPr sz="1200" u="none" cap="none" strike="noStrike">
                        <a:solidFill>
                          <a:srgbClr val="000000"/>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Optimized</a:t>
                      </a:r>
                      <a:endParaRPr sz="1200" u="none" cap="none" strike="noStrike">
                        <a:solidFill>
                          <a:srgbClr val="000000"/>
                        </a:solidFill>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Static Score (/20)</a:t>
                      </a:r>
                      <a:endParaRPr sz="1200" u="none" cap="none" strike="noStrike">
                        <a:solidFill>
                          <a:srgbClr val="000000"/>
                        </a:solidFill>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18.4 ± 0.6</a:t>
                      </a:r>
                      <a:endParaRPr sz="1200" u="none" cap="none" strike="noStrike">
                        <a:solidFill>
                          <a:srgbClr val="000000"/>
                        </a:solidFill>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19.1 ± 0.3</a:t>
                      </a:r>
                      <a:endParaRPr sz="1200" u="none" cap="none" strike="noStrike">
                        <a:solidFill>
                          <a:srgbClr val="000000"/>
                        </a:solidFill>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LLM Judge Score (/30)</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22.2 ± 3.6</a:t>
                      </a:r>
                      <a:endParaRPr b="1"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22.4 ± 1.8</a:t>
                      </a:r>
                      <a:endParaRPr b="1" sz="1200" u="none" cap="none" strike="noStrike">
                        <a:solidFill>
                          <a:srgbClr val="000000"/>
                        </a:solidFill>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0780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Dry-Run Score (/50)</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33.1 ± 1.3</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32.7 ± 2.5</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76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00000"/>
                          </a:solidFill>
                          <a:latin typeface="Calibri"/>
                          <a:ea typeface="Calibri"/>
                          <a:cs typeface="Calibri"/>
                          <a:sym typeface="Calibri"/>
                        </a:rPr>
                        <a:t>Quality Score (/100)</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solidFill>
                            <a:srgbClr val="000000"/>
                          </a:solidFill>
                          <a:latin typeface="Calibri"/>
                          <a:ea typeface="Calibri"/>
                          <a:cs typeface="Calibri"/>
                          <a:sym typeface="Calibri"/>
                        </a:rPr>
                        <a:t>73.8 ± 3.0</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solidFill>
                            <a:srgbClr val="000000"/>
                          </a:solidFill>
                          <a:latin typeface="Calibri"/>
                          <a:ea typeface="Calibri"/>
                          <a:cs typeface="Calibri"/>
                          <a:sym typeface="Calibri"/>
                        </a:rPr>
                        <a:t>74.2 ± 1.9</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65" name="Google Shape;365;g3dbcac02c12_1_21"/>
          <p:cNvSpPr/>
          <p:nvPr/>
        </p:nvSpPr>
        <p:spPr>
          <a:xfrm>
            <a:off x="457202" y="1491876"/>
            <a:ext cx="5784900" cy="29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300"/>
              <a:buFont typeface="Calibri"/>
              <a:buNone/>
            </a:pPr>
            <a:r>
              <a:rPr b="1" i="0" lang="en-US" sz="1300" u="none" cap="none" strike="noStrike">
                <a:solidFill>
                  <a:srgbClr val="000000"/>
                </a:solidFill>
                <a:latin typeface="Calibri"/>
                <a:ea typeface="Calibri"/>
                <a:cs typeface="Calibri"/>
                <a:sym typeface="Calibri"/>
              </a:rPr>
              <a:t>Scenario quality evaluation: baseline vs. optimised (mean ± std, n = 3 runs)</a:t>
            </a:r>
            <a:endParaRPr b="0" i="0" sz="1300" u="none" cap="none" strike="noStrike">
              <a:solidFill>
                <a:srgbClr val="000000"/>
              </a:solidFill>
              <a:latin typeface="Calibri"/>
              <a:ea typeface="Calibri"/>
              <a:cs typeface="Calibri"/>
              <a:sym typeface="Calibri"/>
            </a:endParaRPr>
          </a:p>
        </p:txBody>
      </p:sp>
      <p:sp>
        <p:nvSpPr>
          <p:cNvPr id="366" name="Google Shape;366;g3dbcac02c12_1_21"/>
          <p:cNvSpPr/>
          <p:nvPr/>
        </p:nvSpPr>
        <p:spPr>
          <a:xfrm>
            <a:off x="5166340" y="1985755"/>
            <a:ext cx="54900" cy="6585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g3dbcac02c12_1_21"/>
          <p:cNvSpPr/>
          <p:nvPr/>
        </p:nvSpPr>
        <p:spPr>
          <a:xfrm>
            <a:off x="5349220" y="1985755"/>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Quality preserved</a:t>
            </a:r>
            <a:endParaRPr b="0" i="0" sz="1200" u="none" cap="none" strike="noStrike">
              <a:solidFill>
                <a:srgbClr val="000000"/>
              </a:solidFill>
              <a:latin typeface="Calibri"/>
              <a:ea typeface="Calibri"/>
              <a:cs typeface="Calibri"/>
              <a:sym typeface="Calibri"/>
            </a:endParaRPr>
          </a:p>
        </p:txBody>
      </p:sp>
      <p:sp>
        <p:nvSpPr>
          <p:cNvPr id="368" name="Google Shape;368;g3dbcac02c12_1_21"/>
          <p:cNvSpPr/>
          <p:nvPr/>
        </p:nvSpPr>
        <p:spPr>
          <a:xfrm>
            <a:off x="5349220" y="2260075"/>
            <a:ext cx="2834700" cy="38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94A3B8"/>
              </a:buClr>
              <a:buSzPts val="1000"/>
              <a:buFont typeface="Calibri"/>
              <a:buNone/>
            </a:pPr>
            <a:r>
              <a:rPr b="0" i="0" lang="en-US" sz="1000" u="none" cap="none" strike="noStrike">
                <a:solidFill>
                  <a:srgbClr val="000000"/>
                </a:solidFill>
                <a:latin typeface="Calibri"/>
                <a:ea typeface="Calibri"/>
                <a:cs typeface="Calibri"/>
                <a:sym typeface="Calibri"/>
              </a:rPr>
              <a:t>0.4 point gap between baseline &amp; optimised is within run-to-run variance</a:t>
            </a:r>
            <a:endParaRPr b="0" i="0" sz="1000" u="none" cap="none" strike="noStrike">
              <a:solidFill>
                <a:srgbClr val="000000"/>
              </a:solidFill>
              <a:latin typeface="Calibri"/>
              <a:ea typeface="Calibri"/>
              <a:cs typeface="Calibri"/>
              <a:sym typeface="Calibri"/>
            </a:endParaRPr>
          </a:p>
        </p:txBody>
      </p:sp>
      <p:sp>
        <p:nvSpPr>
          <p:cNvPr id="369" name="Google Shape;369;g3dbcac02c12_1_21"/>
          <p:cNvSpPr/>
          <p:nvPr/>
        </p:nvSpPr>
        <p:spPr>
          <a:xfrm>
            <a:off x="5166340" y="3271530"/>
            <a:ext cx="54900" cy="6585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3dbcac02c12_1_21"/>
          <p:cNvSpPr/>
          <p:nvPr/>
        </p:nvSpPr>
        <p:spPr>
          <a:xfrm>
            <a:off x="5349220" y="3271530"/>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Static scores high</a:t>
            </a:r>
            <a:endParaRPr b="0" i="0" sz="1200" u="none" cap="none" strike="noStrike">
              <a:solidFill>
                <a:srgbClr val="000000"/>
              </a:solidFill>
              <a:latin typeface="Calibri"/>
              <a:ea typeface="Calibri"/>
              <a:cs typeface="Calibri"/>
              <a:sym typeface="Calibri"/>
            </a:endParaRPr>
          </a:p>
        </p:txBody>
      </p:sp>
      <p:sp>
        <p:nvSpPr>
          <p:cNvPr id="371" name="Google Shape;371;g3dbcac02c12_1_21"/>
          <p:cNvSpPr/>
          <p:nvPr/>
        </p:nvSpPr>
        <p:spPr>
          <a:xfrm>
            <a:off x="5349220" y="3545850"/>
            <a:ext cx="2834700" cy="38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94A3B8"/>
              </a:buClr>
              <a:buSzPts val="1000"/>
              <a:buFont typeface="Calibri"/>
              <a:buNone/>
            </a:pPr>
            <a:r>
              <a:rPr b="0" i="0" lang="en-US" sz="1000" u="none" cap="none" strike="noStrike">
                <a:solidFill>
                  <a:srgbClr val="000000"/>
                </a:solidFill>
                <a:latin typeface="Calibri"/>
                <a:ea typeface="Calibri"/>
                <a:cs typeface="Calibri"/>
                <a:sym typeface="Calibri"/>
              </a:rPr>
              <a:t>&gt;= 18.4/20 in both schema validity unaffected by optimisations</a:t>
            </a:r>
            <a:endParaRPr b="0" i="0" sz="1000" u="none" cap="none" strike="noStrike">
              <a:solidFill>
                <a:srgbClr val="000000"/>
              </a:solidFill>
              <a:latin typeface="Calibri"/>
              <a:ea typeface="Calibri"/>
              <a:cs typeface="Calibri"/>
              <a:sym typeface="Calibri"/>
            </a:endParaRPr>
          </a:p>
        </p:txBody>
      </p:sp>
      <p:sp>
        <p:nvSpPr>
          <p:cNvPr id="372" name="Google Shape;372;g3dbcac02c12_1_21"/>
          <p:cNvSpPr/>
          <p:nvPr/>
        </p:nvSpPr>
        <p:spPr>
          <a:xfrm>
            <a:off x="5166340" y="4557305"/>
            <a:ext cx="54900" cy="658500"/>
          </a:xfrm>
          <a:prstGeom prst="rect">
            <a:avLst/>
          </a:prstGeom>
          <a:solidFill>
            <a:srgbClr val="334155"/>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g3dbcac02c12_1_21"/>
          <p:cNvSpPr/>
          <p:nvPr/>
        </p:nvSpPr>
        <p:spPr>
          <a:xfrm>
            <a:off x="5349220" y="4557305"/>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Dry-run comparable</a:t>
            </a:r>
            <a:endParaRPr b="0" i="0" sz="1200" u="none" cap="none" strike="noStrike">
              <a:solidFill>
                <a:srgbClr val="000000"/>
              </a:solidFill>
              <a:latin typeface="Calibri"/>
              <a:ea typeface="Calibri"/>
              <a:cs typeface="Calibri"/>
              <a:sym typeface="Calibri"/>
            </a:endParaRPr>
          </a:p>
        </p:txBody>
      </p:sp>
      <p:sp>
        <p:nvSpPr>
          <p:cNvPr id="374" name="Google Shape;374;g3dbcac02c12_1_21"/>
          <p:cNvSpPr/>
          <p:nvPr/>
        </p:nvSpPr>
        <p:spPr>
          <a:xfrm>
            <a:off x="5349220" y="4831625"/>
            <a:ext cx="2834700" cy="38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94A3B8"/>
              </a:buClr>
              <a:buSzPts val="1000"/>
              <a:buFont typeface="Calibri"/>
              <a:buNone/>
            </a:pPr>
            <a:r>
              <a:rPr b="0" i="0" lang="en-US" sz="1000" u="none" cap="none" strike="noStrike">
                <a:solidFill>
                  <a:srgbClr val="000000"/>
                </a:solidFill>
                <a:latin typeface="Calibri"/>
                <a:ea typeface="Calibri"/>
                <a:cs typeface="Calibri"/>
                <a:sym typeface="Calibri"/>
              </a:rPr>
              <a:t>33.1 vs 32.7: agent executable quality fully preserved</a:t>
            </a:r>
            <a:endParaRPr b="0" i="0" sz="1000" u="none" cap="none" strike="noStrike">
              <a:solidFill>
                <a:srgbClr val="000000"/>
              </a:solidFill>
              <a:latin typeface="Calibri"/>
              <a:ea typeface="Calibri"/>
              <a:cs typeface="Calibri"/>
              <a:sym typeface="Calibri"/>
            </a:endParaRPr>
          </a:p>
        </p:txBody>
      </p:sp>
      <p:sp>
        <p:nvSpPr>
          <p:cNvPr id="375" name="Google Shape;375;g3dbcac02c12_1_21"/>
          <p:cNvSpPr/>
          <p:nvPr/>
        </p:nvSpPr>
        <p:spPr>
          <a:xfrm>
            <a:off x="977950" y="5492725"/>
            <a:ext cx="7119600" cy="38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4A3B8"/>
              </a:buClr>
              <a:buSzPts val="1000"/>
              <a:buFont typeface="Calibri"/>
              <a:buNone/>
            </a:pPr>
            <a:r>
              <a:rPr b="1" i="1" lang="en-US" sz="1000" u="none" cap="none" strike="noStrike">
                <a:solidFill>
                  <a:srgbClr val="000000"/>
                </a:solidFill>
                <a:latin typeface="Calibri"/>
                <a:ea typeface="Calibri"/>
                <a:cs typeface="Calibri"/>
                <a:sym typeface="Calibri"/>
              </a:rPr>
              <a:t>Both pipelines exceed the 70-pt high-quality threshold, optimised pipeline is faster without any quality trade-off.</a:t>
            </a:r>
            <a:endParaRPr b="1"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94A3B8"/>
              </a:buClr>
              <a:buSzPts val="900"/>
              <a:buFont typeface="Calibri"/>
              <a:buNone/>
            </a:pPr>
            <a:r>
              <a:t/>
            </a:r>
            <a:endParaRPr b="0" i="1" sz="900" u="none" cap="none" strike="noStrik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g3dbcac02c12_1_55"/>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382" name="Google Shape;382;g3dbcac02c12_1_55"/>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383" name="Google Shape;383;g3dbcac02c12_1_55"/>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84" name="Google Shape;384;g3dbcac02c12_1_55"/>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385" name="Google Shape;385;g3dbcac02c12_1_55"/>
          <p:cNvPicPr preferRelativeResize="0"/>
          <p:nvPr/>
        </p:nvPicPr>
        <p:blipFill rotWithShape="1">
          <a:blip r:embed="rId3">
            <a:alphaModFix/>
          </a:blip>
          <a:srcRect b="0" l="0" r="0" t="0"/>
          <a:stretch/>
        </p:blipFill>
        <p:spPr>
          <a:xfrm>
            <a:off x="631350" y="1726325"/>
            <a:ext cx="10680325" cy="40572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sp>
        <p:nvSpPr>
          <p:cNvPr id="391" name="Google Shape;391;g3dbcac02c12_1_77"/>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392" name="Google Shape;392;g3dbcac02c12_1_77"/>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393" name="Google Shape;393;g3dbcac02c12_1_77"/>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94" name="Google Shape;394;g3dbcac02c12_1_77"/>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395" name="Google Shape;395;g3dbcac02c12_1_77"/>
          <p:cNvPicPr preferRelativeResize="0"/>
          <p:nvPr/>
        </p:nvPicPr>
        <p:blipFill rotWithShape="1">
          <a:blip r:embed="rId3">
            <a:alphaModFix/>
          </a:blip>
          <a:srcRect b="0" l="0" r="0" t="0"/>
          <a:stretch/>
        </p:blipFill>
        <p:spPr>
          <a:xfrm>
            <a:off x="457188" y="2017162"/>
            <a:ext cx="8166226" cy="2959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 name="Shape 400"/>
        <p:cNvGrpSpPr/>
        <p:nvPr/>
      </p:nvGrpSpPr>
      <p:grpSpPr>
        <a:xfrm>
          <a:off x="0" y="0"/>
          <a:ext cx="0" cy="0"/>
          <a:chOff x="0" y="0"/>
          <a:chExt cx="0" cy="0"/>
        </a:xfrm>
      </p:grpSpPr>
      <p:sp>
        <p:nvSpPr>
          <p:cNvPr id="401" name="Google Shape;401;g3dbcac02c12_1_87"/>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402" name="Google Shape;402;g3dbcac02c12_1_87"/>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03" name="Google Shape;403;g3dbcac02c12_1_87"/>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04" name="Google Shape;404;g3dbcac02c12_1_87"/>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05" name="Google Shape;405;g3dbcac02c12_1_87"/>
          <p:cNvPicPr preferRelativeResize="0"/>
          <p:nvPr/>
        </p:nvPicPr>
        <p:blipFill rotWithShape="1">
          <a:blip r:embed="rId3">
            <a:alphaModFix/>
          </a:blip>
          <a:srcRect b="0" l="0" r="0" t="0"/>
          <a:stretch/>
        </p:blipFill>
        <p:spPr>
          <a:xfrm>
            <a:off x="457200" y="2008000"/>
            <a:ext cx="6649027" cy="2842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g3dbcac02c12_1_97"/>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412" name="Google Shape;412;g3dbcac02c12_1_97"/>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13" name="Google Shape;413;g3dbcac02c12_1_97"/>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14" name="Google Shape;414;g3dbcac02c12_1_97"/>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15" name="Google Shape;415;g3dbcac02c12_1_97"/>
          <p:cNvPicPr preferRelativeResize="0"/>
          <p:nvPr/>
        </p:nvPicPr>
        <p:blipFill rotWithShape="1">
          <a:blip r:embed="rId3">
            <a:alphaModFix/>
          </a:blip>
          <a:srcRect b="0" l="0" r="0" t="0"/>
          <a:stretch/>
        </p:blipFill>
        <p:spPr>
          <a:xfrm>
            <a:off x="457200" y="2008000"/>
            <a:ext cx="6649027" cy="2842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sp>
        <p:nvSpPr>
          <p:cNvPr id="421" name="Google Shape;421;g3dbcac02c12_1_106"/>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422" name="Google Shape;422;g3dbcac02c12_1_106"/>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23" name="Google Shape;423;g3dbcac02c12_1_106"/>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24" name="Google Shape;424;g3dbcac02c12_1_106"/>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25" name="Google Shape;425;g3dbcac02c12_1_106"/>
          <p:cNvPicPr preferRelativeResize="0"/>
          <p:nvPr/>
        </p:nvPicPr>
        <p:blipFill rotWithShape="1">
          <a:blip r:embed="rId3">
            <a:alphaModFix/>
          </a:blip>
          <a:srcRect b="0" l="0" r="0" t="0"/>
          <a:stretch/>
        </p:blipFill>
        <p:spPr>
          <a:xfrm>
            <a:off x="457188" y="1861838"/>
            <a:ext cx="5421527" cy="28828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0" name="Shape 430"/>
        <p:cNvGrpSpPr/>
        <p:nvPr/>
      </p:nvGrpSpPr>
      <p:grpSpPr>
        <a:xfrm>
          <a:off x="0" y="0"/>
          <a:ext cx="0" cy="0"/>
          <a:chOff x="0" y="0"/>
          <a:chExt cx="0" cy="0"/>
        </a:xfrm>
      </p:grpSpPr>
      <p:sp>
        <p:nvSpPr>
          <p:cNvPr id="431" name="Google Shape;431;g3dbcac02c12_1_116"/>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432" name="Google Shape;432;g3dbcac02c12_1_116"/>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33" name="Google Shape;433;g3dbcac02c12_1_116"/>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34" name="Google Shape;434;g3dbcac02c12_1_116"/>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35" name="Google Shape;435;g3dbcac02c12_1_116"/>
          <p:cNvPicPr preferRelativeResize="0"/>
          <p:nvPr/>
        </p:nvPicPr>
        <p:blipFill rotWithShape="1">
          <a:blip r:embed="rId3">
            <a:alphaModFix/>
          </a:blip>
          <a:srcRect b="0" l="0" r="0" t="0"/>
          <a:stretch/>
        </p:blipFill>
        <p:spPr>
          <a:xfrm>
            <a:off x="457200" y="2166525"/>
            <a:ext cx="7209902" cy="2985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0" name="Shape 440"/>
        <p:cNvGrpSpPr/>
        <p:nvPr/>
      </p:nvGrpSpPr>
      <p:grpSpPr>
        <a:xfrm>
          <a:off x="0" y="0"/>
          <a:ext cx="0" cy="0"/>
          <a:chOff x="0" y="0"/>
          <a:chExt cx="0" cy="0"/>
        </a:xfrm>
      </p:grpSpPr>
      <p:sp>
        <p:nvSpPr>
          <p:cNvPr id="441" name="Google Shape;441;g3dbcac02c12_1_126"/>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442" name="Google Shape;442;g3dbcac02c12_1_126"/>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43" name="Google Shape;443;g3dbcac02c12_1_126"/>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44" name="Google Shape;444;g3dbcac02c12_1_126"/>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45" name="Google Shape;445;g3dbcac02c12_1_126"/>
          <p:cNvPicPr preferRelativeResize="0"/>
          <p:nvPr/>
        </p:nvPicPr>
        <p:blipFill rotWithShape="1">
          <a:blip r:embed="rId3">
            <a:alphaModFix/>
          </a:blip>
          <a:srcRect b="0" l="0" r="0" t="0"/>
          <a:stretch/>
        </p:blipFill>
        <p:spPr>
          <a:xfrm>
            <a:off x="457200" y="1850925"/>
            <a:ext cx="7772902" cy="28795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sp>
        <p:nvSpPr>
          <p:cNvPr id="451" name="Google Shape;451;g3dbcac02c12_1_136"/>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Transformer Asset Class Integration</a:t>
            </a:r>
            <a:endParaRPr b="0" i="0" sz="3200" u="none" cap="none" strike="noStrike">
              <a:solidFill>
                <a:schemeClr val="dk1"/>
              </a:solidFill>
              <a:latin typeface="Calibri"/>
              <a:ea typeface="Calibri"/>
              <a:cs typeface="Calibri"/>
              <a:sym typeface="Calibri"/>
            </a:endParaRPr>
          </a:p>
        </p:txBody>
      </p:sp>
      <p:cxnSp>
        <p:nvCxnSpPr>
          <p:cNvPr id="452" name="Google Shape;452;g3dbcac02c12_1_136"/>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53" name="Google Shape;453;g3dbcac02c12_1_136"/>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54" name="Google Shape;454;g3dbcac02c12_1_136"/>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55" name="Google Shape;455;g3dbcac02c12_1_136"/>
          <p:cNvPicPr preferRelativeResize="0"/>
          <p:nvPr/>
        </p:nvPicPr>
        <p:blipFill rotWithShape="1">
          <a:blip r:embed="rId3">
            <a:alphaModFix/>
          </a:blip>
          <a:srcRect b="0" l="0" r="0" t="0"/>
          <a:stretch/>
        </p:blipFill>
        <p:spPr>
          <a:xfrm>
            <a:off x="457200" y="1669900"/>
            <a:ext cx="7588024" cy="1432925"/>
          </a:xfrm>
          <a:prstGeom prst="rect">
            <a:avLst/>
          </a:prstGeom>
          <a:noFill/>
          <a:ln>
            <a:noFill/>
          </a:ln>
        </p:spPr>
      </p:pic>
      <p:pic>
        <p:nvPicPr>
          <p:cNvPr id="456" name="Google Shape;456;g3dbcac02c12_1_136"/>
          <p:cNvPicPr preferRelativeResize="0"/>
          <p:nvPr/>
        </p:nvPicPr>
        <p:blipFill rotWithShape="1">
          <a:blip r:embed="rId4">
            <a:alphaModFix/>
          </a:blip>
          <a:srcRect b="0" l="0" r="0" t="0"/>
          <a:stretch/>
        </p:blipFill>
        <p:spPr>
          <a:xfrm>
            <a:off x="457200" y="3284975"/>
            <a:ext cx="7588027" cy="2131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g3dbcac02c12_1_147"/>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Transformer Asset Class Integration</a:t>
            </a:r>
            <a:endParaRPr b="0" i="0" sz="3200" u="none" cap="none" strike="noStrike">
              <a:solidFill>
                <a:schemeClr val="dk1"/>
              </a:solidFill>
              <a:latin typeface="Calibri"/>
              <a:ea typeface="Calibri"/>
              <a:cs typeface="Calibri"/>
              <a:sym typeface="Calibri"/>
            </a:endParaRPr>
          </a:p>
        </p:txBody>
      </p:sp>
      <p:cxnSp>
        <p:nvCxnSpPr>
          <p:cNvPr id="463" name="Google Shape;463;g3dbcac02c12_1_147"/>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64" name="Google Shape;464;g3dbcac02c12_1_147"/>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65" name="Google Shape;465;g3dbcac02c12_1_147"/>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66" name="Google Shape;466;g3dbcac02c12_1_147"/>
          <p:cNvPicPr preferRelativeResize="0"/>
          <p:nvPr/>
        </p:nvPicPr>
        <p:blipFill rotWithShape="1">
          <a:blip r:embed="rId3">
            <a:alphaModFix/>
          </a:blip>
          <a:srcRect b="0" l="0" r="0" t="0"/>
          <a:stretch/>
        </p:blipFill>
        <p:spPr>
          <a:xfrm>
            <a:off x="457200" y="1668300"/>
            <a:ext cx="8338524" cy="970375"/>
          </a:xfrm>
          <a:prstGeom prst="rect">
            <a:avLst/>
          </a:prstGeom>
          <a:noFill/>
          <a:ln>
            <a:noFill/>
          </a:ln>
        </p:spPr>
      </p:pic>
      <p:pic>
        <p:nvPicPr>
          <p:cNvPr id="467" name="Google Shape;467;g3dbcac02c12_1_147"/>
          <p:cNvPicPr preferRelativeResize="0"/>
          <p:nvPr/>
        </p:nvPicPr>
        <p:blipFill rotWithShape="1">
          <a:blip r:embed="rId4">
            <a:alphaModFix/>
          </a:blip>
          <a:srcRect b="0" l="0" r="0" t="0"/>
          <a:stretch/>
        </p:blipFill>
        <p:spPr>
          <a:xfrm>
            <a:off x="457200" y="2909888"/>
            <a:ext cx="8338524" cy="1098350"/>
          </a:xfrm>
          <a:prstGeom prst="rect">
            <a:avLst/>
          </a:prstGeom>
          <a:noFill/>
          <a:ln>
            <a:noFill/>
          </a:ln>
        </p:spPr>
      </p:pic>
      <p:pic>
        <p:nvPicPr>
          <p:cNvPr id="468" name="Google Shape;468;g3dbcac02c12_1_147"/>
          <p:cNvPicPr preferRelativeResize="0"/>
          <p:nvPr/>
        </p:nvPicPr>
        <p:blipFill rotWithShape="1">
          <a:blip r:embed="rId5">
            <a:alphaModFix/>
          </a:blip>
          <a:srcRect b="0" l="0" r="0" t="0"/>
          <a:stretch/>
        </p:blipFill>
        <p:spPr>
          <a:xfrm>
            <a:off x="457200" y="4279450"/>
            <a:ext cx="8338524" cy="1111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2026-05-03T03:17:50Z</dcterms:created>
  <dc:creator>Dr. Kaoutar El Maghraoui</dc:creator>
</cp:coreProperties>
</file>